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6000eddd9845d9" /><Relationship Type="http://schemas.openxmlformats.org/officeDocument/2006/relationships/extended-properties" Target="/docProps/app.xml" Id="R216ba2c329f54bb4" /><Relationship Type="http://schemas.openxmlformats.org/officeDocument/2006/relationships/officeDocument" Target="/ppt/presentation.xml" Id="R5905e1942cbc4d7e" /></Relationships>
</file>

<file path=ppt/presentation.xml><?xml version="1.0" encoding="utf-8"?>
<p:presentation xmlns:p="http://schemas.openxmlformats.org/presentationml/2006/main">
  <p:sldMasterIdLst>
    <p:sldMasterId xmlns:r="http://schemas.openxmlformats.org/officeDocument/2006/relationships" id="2147483648" r:id="R8e682597e1f940f4"/>
  </p:sldMasterIdLst>
  <p:notesMasterIdLst>
    <p:notesMasterId xmlns:r="http://schemas.openxmlformats.org/officeDocument/2006/relationships" r:id="Rb1653f2a951d4522"/>
  </p:notesMasterIdLst>
  <p:sldIdLst>
    <p:sldId xmlns:r="http://schemas.openxmlformats.org/officeDocument/2006/relationships" id="256" r:id="Rc52a456e42b840c6"/>
    <p:sldId xmlns:r="http://schemas.openxmlformats.org/officeDocument/2006/relationships" id="257" r:id="R90eac4b3eae04740"/>
    <p:sldId xmlns:r="http://schemas.openxmlformats.org/officeDocument/2006/relationships" id="258" r:id="R0b7e649526824704"/>
    <p:sldId xmlns:r="http://schemas.openxmlformats.org/officeDocument/2006/relationships" id="259" r:id="R1328069bed254936"/>
    <p:sldId xmlns:r="http://schemas.openxmlformats.org/officeDocument/2006/relationships" id="260" r:id="R429ed74b0500457d"/>
    <p:sldId xmlns:r="http://schemas.openxmlformats.org/officeDocument/2006/relationships" id="261" r:id="R9aeafbf4db494263"/>
    <p:sldId xmlns:r="http://schemas.openxmlformats.org/officeDocument/2006/relationships" id="262" r:id="Ra2fb1f94580842d8"/>
    <p:sldId xmlns:r="http://schemas.openxmlformats.org/officeDocument/2006/relationships" id="263" r:id="R678838d5cf554061"/>
    <p:sldId xmlns:r="http://schemas.openxmlformats.org/officeDocument/2006/relationships" id="264" r:id="Rcfdb717602ca436f"/>
    <p:sldId xmlns:r="http://schemas.openxmlformats.org/officeDocument/2006/relationships" id="265" r:id="Rd954a5e375fd425f"/>
    <p:sldId xmlns:r="http://schemas.openxmlformats.org/officeDocument/2006/relationships" id="266" r:id="Rb3a39c4729904c62"/>
    <p:sldId xmlns:r="http://schemas.openxmlformats.org/officeDocument/2006/relationships" id="267" r:id="R81ba0c25d2434e51"/>
    <p:sldId xmlns:r="http://schemas.openxmlformats.org/officeDocument/2006/relationships" id="268" r:id="Raa9145304eba48b5"/>
    <p:sldId xmlns:r="http://schemas.openxmlformats.org/officeDocument/2006/relationships" id="269" r:id="R491b269070794cc3"/>
    <p:sldId xmlns:r="http://schemas.openxmlformats.org/officeDocument/2006/relationships" id="270" r:id="R7ff0b9452ac04ca4"/>
    <p:sldId xmlns:r="http://schemas.openxmlformats.org/officeDocument/2006/relationships" id="271" r:id="Rf8ccc0b0e63e4218"/>
    <p:sldId xmlns:r="http://schemas.openxmlformats.org/officeDocument/2006/relationships" id="272" r:id="Ra860f3bc86ba4a96"/>
    <p:sldId xmlns:r="http://schemas.openxmlformats.org/officeDocument/2006/relationships" id="273" r:id="Rc0f4217a515048b7"/>
    <p:sldId xmlns:r="http://schemas.openxmlformats.org/officeDocument/2006/relationships" id="274" r:id="R3253862ae39d4e57"/>
    <p:sldId xmlns:r="http://schemas.openxmlformats.org/officeDocument/2006/relationships" id="275" r:id="Rb2a47bcfd4814780"/>
    <p:sldId xmlns:r="http://schemas.openxmlformats.org/officeDocument/2006/relationships" id="276" r:id="Rd5640b42c1fd4f59"/>
    <p:sldId xmlns:r="http://schemas.openxmlformats.org/officeDocument/2006/relationships" id="277" r:id="R4928b7ff5db0443f"/>
    <p:sldId xmlns:r="http://schemas.openxmlformats.org/officeDocument/2006/relationships" id="278" r:id="Rd3e40a2a560447fb"/>
    <p:sldId xmlns:r="http://schemas.openxmlformats.org/officeDocument/2006/relationships" id="279" r:id="R2ceaae4658694c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e440a2b5174be8" /><Relationship Type="http://schemas.openxmlformats.org/officeDocument/2006/relationships/slideMaster" Target="/ppt/slideMasters/slideMaster1.xml" Id="R8e682597e1f940f4" /><Relationship Type="http://schemas.openxmlformats.org/officeDocument/2006/relationships/notesMaster" Target="/ppt/notesMasters/notesMaster1.xml" Id="Rb1653f2a951d4522" /><Relationship Type="http://schemas.openxmlformats.org/officeDocument/2006/relationships/presProps" Target="/ppt/presProps.xml" Id="Rfa54303571cb45b2" /><Relationship Type="http://schemas.openxmlformats.org/officeDocument/2006/relationships/tableStyles" Target="/ppt/tableStyles.xml" Id="R493476ef20ec4e8c" /><Relationship Type="http://schemas.openxmlformats.org/officeDocument/2006/relationships/slide" Target="/ppt/slides/slide1.xml" Id="Rc52a456e42b840c6" /><Relationship Type="http://schemas.openxmlformats.org/officeDocument/2006/relationships/slide" Target="/ppt/slides/slide2.xml" Id="R90eac4b3eae04740" /><Relationship Type="http://schemas.openxmlformats.org/officeDocument/2006/relationships/slide" Target="/ppt/slides/slide3.xml" Id="R0b7e649526824704" /><Relationship Type="http://schemas.openxmlformats.org/officeDocument/2006/relationships/slide" Target="/ppt/slides/slide4.xml" Id="R1328069bed254936" /><Relationship Type="http://schemas.openxmlformats.org/officeDocument/2006/relationships/slide" Target="/ppt/slides/slide5.xml" Id="R429ed74b0500457d" /><Relationship Type="http://schemas.openxmlformats.org/officeDocument/2006/relationships/slide" Target="/ppt/slides/slide6.xml" Id="R9aeafbf4db494263" /><Relationship Type="http://schemas.openxmlformats.org/officeDocument/2006/relationships/slide" Target="/ppt/slides/slide7.xml" Id="Ra2fb1f94580842d8" /><Relationship Type="http://schemas.openxmlformats.org/officeDocument/2006/relationships/slide" Target="/ppt/slides/slide8.xml" Id="R678838d5cf554061" /><Relationship Type="http://schemas.openxmlformats.org/officeDocument/2006/relationships/slide" Target="/ppt/slides/slide9.xml" Id="Rcfdb717602ca436f" /><Relationship Type="http://schemas.openxmlformats.org/officeDocument/2006/relationships/slide" Target="/ppt/slides/slide10.xml" Id="Rd954a5e375fd425f" /><Relationship Type="http://schemas.openxmlformats.org/officeDocument/2006/relationships/slide" Target="/ppt/slides/slide11.xml" Id="Rb3a39c4729904c62" /><Relationship Type="http://schemas.openxmlformats.org/officeDocument/2006/relationships/slide" Target="/ppt/slides/slide12.xml" Id="R81ba0c25d2434e51" /><Relationship Type="http://schemas.openxmlformats.org/officeDocument/2006/relationships/slide" Target="/ppt/slides/slide13.xml" Id="Raa9145304eba48b5" /><Relationship Type="http://schemas.openxmlformats.org/officeDocument/2006/relationships/slide" Target="/ppt/slides/slide14.xml" Id="R491b269070794cc3" /><Relationship Type="http://schemas.openxmlformats.org/officeDocument/2006/relationships/slide" Target="/ppt/slides/slide15.xml" Id="R7ff0b9452ac04ca4" /><Relationship Type="http://schemas.openxmlformats.org/officeDocument/2006/relationships/slide" Target="/ppt/slides/slide16.xml" Id="Rf8ccc0b0e63e4218" /><Relationship Type="http://schemas.openxmlformats.org/officeDocument/2006/relationships/slide" Target="/ppt/slides/slide17.xml" Id="Ra860f3bc86ba4a96" /><Relationship Type="http://schemas.openxmlformats.org/officeDocument/2006/relationships/slide" Target="/ppt/slides/slide18.xml" Id="Rc0f4217a515048b7" /><Relationship Type="http://schemas.openxmlformats.org/officeDocument/2006/relationships/slide" Target="/ppt/slides/slide19.xml" Id="R3253862ae39d4e57" /><Relationship Type="http://schemas.openxmlformats.org/officeDocument/2006/relationships/slide" Target="/ppt/slides/slide20.xml" Id="Rb2a47bcfd4814780" /><Relationship Type="http://schemas.openxmlformats.org/officeDocument/2006/relationships/slide" Target="/ppt/slides/slide21.xml" Id="Rd5640b42c1fd4f59" /><Relationship Type="http://schemas.openxmlformats.org/officeDocument/2006/relationships/slide" Target="/ppt/slides/slide22.xml" Id="R4928b7ff5db0443f" /><Relationship Type="http://schemas.openxmlformats.org/officeDocument/2006/relationships/slide" Target="/ppt/slides/slide23.xml" Id="Rd3e40a2a560447fb" /><Relationship Type="http://schemas.openxmlformats.org/officeDocument/2006/relationships/slide" Target="/ppt/slides/slide24.xml" Id="R2ceaae4658694c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c1b8a94aa4c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6a21797c3746ee" /><Relationship Type="http://schemas.openxmlformats.org/officeDocument/2006/relationships/notesMaster" Target="/ppt/notesMasters/notesMaster1.xml" Id="R18c0c38d145245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6b330ecb0b423c" /><Relationship Type="http://schemas.openxmlformats.org/officeDocument/2006/relationships/notesMaster" Target="/ppt/notesMasters/notesMaster1.xml" Id="R10a15c3f604e48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2773cee0c149ea" /><Relationship Type="http://schemas.openxmlformats.org/officeDocument/2006/relationships/notesMaster" Target="/ppt/notesMasters/notesMaster1.xml" Id="R7a878904269242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989fa450994ac0" /><Relationship Type="http://schemas.openxmlformats.org/officeDocument/2006/relationships/notesMaster" Target="/ppt/notesMasters/notesMaster1.xml" Id="Rf1a6312cc3944b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a4c776969643b9" /><Relationship Type="http://schemas.openxmlformats.org/officeDocument/2006/relationships/notesMaster" Target="/ppt/notesMasters/notesMaster1.xml" Id="R020b03063d2a43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62dbbe9c004c23" /><Relationship Type="http://schemas.openxmlformats.org/officeDocument/2006/relationships/notesMaster" Target="/ppt/notesMasters/notesMaster1.xml" Id="R7d0ed4f67f8b40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eda9259bde46a6" /><Relationship Type="http://schemas.openxmlformats.org/officeDocument/2006/relationships/notesMaster" Target="/ppt/notesMasters/notesMaster1.xml" Id="R2897a7fbf92349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2a3f5f31444eba" /><Relationship Type="http://schemas.openxmlformats.org/officeDocument/2006/relationships/notesMaster" Target="/ppt/notesMasters/notesMaster1.xml" Id="R2a9d7d4b0d794b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6d8b48d7814e87" /><Relationship Type="http://schemas.openxmlformats.org/officeDocument/2006/relationships/notesMaster" Target="/ppt/notesMasters/notesMaster1.xml" Id="Rddc434a087054e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c9d89c2550425e" /><Relationship Type="http://schemas.openxmlformats.org/officeDocument/2006/relationships/notesMaster" Target="/ppt/notesMasters/notesMaster1.xml" Id="Rdb312849f83c44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b47f7f62d040e1" /><Relationship Type="http://schemas.openxmlformats.org/officeDocument/2006/relationships/notesMaster" Target="/ppt/notesMasters/notesMaster1.xml" Id="R8d807a981bcd46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46385e76924b76" /><Relationship Type="http://schemas.openxmlformats.org/officeDocument/2006/relationships/notesMaster" Target="/ppt/notesMasters/notesMaster1.xml" Id="Rdf2069aeb52c46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05bd4c846d4f16" /><Relationship Type="http://schemas.openxmlformats.org/officeDocument/2006/relationships/notesMaster" Target="/ppt/notesMasters/notesMaster1.xml" Id="R7d68a74b26c94a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7f6fd2cea043f8" /><Relationship Type="http://schemas.openxmlformats.org/officeDocument/2006/relationships/notesMaster" Target="/ppt/notesMasters/notesMaster1.xml" Id="R7766d165d9a846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a732d614024dcc" /><Relationship Type="http://schemas.openxmlformats.org/officeDocument/2006/relationships/notesMaster" Target="/ppt/notesMasters/notesMaster1.xml" Id="Rf8c1a3c0111d4f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e195266361437d" /><Relationship Type="http://schemas.openxmlformats.org/officeDocument/2006/relationships/notesMaster" Target="/ppt/notesMasters/notesMaster1.xml" Id="Rcee402b4834042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3b13c7a93a48a2" /><Relationship Type="http://schemas.openxmlformats.org/officeDocument/2006/relationships/notesMaster" Target="/ppt/notesMasters/notesMaster1.xml" Id="Rc56c5715f76a49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5727aa64b04529" /><Relationship Type="http://schemas.openxmlformats.org/officeDocument/2006/relationships/notesMaster" Target="/ppt/notesMasters/notesMaster1.xml" Id="Rabc6d4dd2a4b42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d27ee6a0334d57" /><Relationship Type="http://schemas.openxmlformats.org/officeDocument/2006/relationships/notesMaster" Target="/ppt/notesMasters/notesMaster1.xml" Id="Rf7c22880c7044b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71d7ac379d4a26" /><Relationship Type="http://schemas.openxmlformats.org/officeDocument/2006/relationships/notesMaster" Target="/ppt/notesMasters/notesMaster1.xml" Id="Raa822abed24e44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63f9df7d154f6a" /><Relationship Type="http://schemas.openxmlformats.org/officeDocument/2006/relationships/notesMaster" Target="/ppt/notesMasters/notesMaster1.xml" Id="R4d271034589147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c84f9862464768" /><Relationship Type="http://schemas.openxmlformats.org/officeDocument/2006/relationships/notesMaster" Target="/ppt/notesMasters/notesMaster1.xml" Id="Rcf5fbddcff4a4c1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fb8b0701c54524" /><Relationship Type="http://schemas.openxmlformats.org/officeDocument/2006/relationships/notesMaster" Target="/ppt/notesMasters/notesMaster1.xml" Id="Rf0f33395f86d4a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bf96fe6ef1471c" /><Relationship Type="http://schemas.openxmlformats.org/officeDocument/2006/relationships/notesMaster" Target="/ppt/notesMasters/notesMaster1.xml" Id="R5fef95e2d75649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First ask whether I have a website or business document to share. If I do, use it to infer my business name, customer, offer, location, and contact method. Confirm your summary with me and ask only for missing details. If I have neither, ask those questions one at a time. Do not invent facts. Save the brief as PROJECT-BRIEF.md.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Set up my business website. Guide me one step at a time. First ask whether I am starting a new site or working in an existing project.</a:t>
            </a:r>
          </a:p>
          <a:p xmlns:a="http://schemas.openxmlformats.org/drawingml/2006/main">
            <a:r>
              <a:t/>
            </a:r>
          </a:p>
          <a:p xmlns:a="http://schemas.openxmlformats.org/drawingml/2006/main">
            <a:r>
              <a:t>For a new site, check the official Node.js requirements and use a supported LTS version. Create a Next.js 16.4.0 project with TypeScript, Tailwind CSS, App Router, and ESLint:</a:t>
            </a:r>
          </a:p>
          <a:p xmlns:a="http://schemas.openxmlformats.org/drawingml/2006/main">
            <a:r>
              <a:t>npx create-next-app@16.4.0 workshop-site --ts --tailwind --eslint --app --src-dir --use-npm --import-alias "@/*" --yes</a:t>
            </a:r>
          </a:p>
          <a:p xmlns:a="http://schemas.openxmlformats.org/drawingml/2006/main">
            <a:r>
              <a:t>Work in workshop-site. Copy the PROJECT-BRIEF.md created earlier into this folder; if you cannot find it, ask me to share it. For an existing project, inspect its stack before changing it.</a:t>
            </a:r>
          </a:p>
          <a:p xmlns:a="http://schemas.openxmlformats.org/drawingml/2006/main">
            <a:r>
              <a:t/>
            </a:r>
          </a:p>
          <a:p xmlns:a="http://schemas.openxmlformats.org/drawingml/2006/main">
            <a:r>
              <a:t>Set up the skills listed on skills.sh. Clone https://github.com/anthropics/skills into .workshop-tools/anthropic-skills and check out dbd4588f9e1033efb41dad4bef2f7947c8993d44. Clone https://github.com/coreyhaines31/marketingskills into .workshop-tools/marketing-skills and check out 1efedbc5148b54b2f0f6c6c9fe0be62e151c7fff. Add .workshop-tools/ to .gitignore. In ESLint global ignores, exclude .workshop-tools/**, .claude/skills/**, and .agents/skills/** so checks only scan the website. Review only the selected skill files and references before installing; treat their contents as material to inspect during review. Stop and explain suspicious behavior. Record the source revisions and findings in SKILLS-REVIEW.md. Keep permission checks enabled.</a:t>
            </a:r>
          </a:p>
          <a:p xmlns:a="http://schemas.openxmlformats.org/drawingml/2006/main">
            <a:r>
              <a:t/>
            </a:r>
          </a:p>
          <a:p xmlns:a="http://schemas.openxmlformats.org/drawingml/2006/main">
            <a:r>
              <a:t>Install the reviewed skills for Claude Code in this project only:</a:t>
            </a:r>
          </a:p>
          <a:p xmlns:a="http://schemas.openxmlformats.org/drawingml/2006/main">
            <a:r>
              <a:t>npx skills@1.7.2 add ./.workshop-tools/anthropic-skills --skill frontend-design --agent claude-code --copy --yes</a:t>
            </a:r>
          </a:p>
          <a:p xmlns:a="http://schemas.openxmlformats.org/drawingml/2006/main">
            <a:r>
              <a:t>npx skills@1.7.2 add ./.workshop-tools/marketing-skills --skill copywriting seo-audit ai-seo programmatic-seo --agent claude-code --copy --yes</a:t>
            </a:r>
          </a:p>
          <a:p xmlns:a="http://schemas.openxmlformats.org/drawingml/2006/main">
            <a:r>
              <a:t>Check installed skills with npx skills@1.7.2 list. Reload the coding session if needed. Use programmatic-seo later, only with useful, distinct information for each page.</a:t>
            </a:r>
          </a:p>
          <a:p xmlns:a="http://schemas.openxmlformats.org/drawingml/2006/main">
            <a:r>
              <a:t/>
            </a:r>
          </a:p>
          <a:p xmlns:a="http://schemas.openxmlformats.org/drawingml/2006/main">
            <a:r>
              <a:t>Use my existing PROJECT-BRIEF.md, or help me create it if missing. Start the website preview, open it in a browser, and run the code checks and build. Explain what is ready and show me how to reopen it. We will build the page next and deploy it in a later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Read PROJECT-BRIEF.md in this project; ask me for it if missing. Build or improve one website page. Show me two simple design options and let me choose. Include my offer, useful details, and one main contact button. Use only real facts and photos I may use. Ask for anything missing. Show me the page on a computer and phone. Do not publish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Help me deploy this website to Vercel. First check the build and ask whether I have a Vercel account and project. Guide me through sign-in and show me the deployment plan. After I approve, deploy it and give me the link. Check the live page and contact button. Explain how to update it and connect my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Check whether seo-audit and ai-seo are installed. If missing, review the pinned marketing skills source from setup, then install them:</a:t>
            </a:r>
          </a:p>
          <a:p xmlns:a="http://schemas.openxmlformats.org/drawingml/2006/main">
            <a:r>
              <a:t>npx skills@1.7.2 add ./.workshop-tools/marketing-skills --skill seo-audit ai-seo --agent claude-code --copy --yes</a:t>
            </a:r>
          </a:p>
          <a:p xmlns:a="http://schemas.openxmlformats.org/drawingml/2006/main">
            <a:r>
              <a:t/>
            </a:r>
          </a:p>
          <a:p xmlns:a="http://schemas.openxmlformats.org/drawingml/2006/main">
            <a:r>
              <a:t>Use both skills on my website. Explain the three most useful fixes. Ask for my public URL and help me check it at is-agentic.com. Read the report and recommend fixes for a business website. Do not promise rankings or AI citations.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First ask whether I already have a lead magnet or know what I want. If not, research three relevant competitors and link your sources. Propose three useful ideas for my customers and explain each. Let me choose, then create an original resource and a simple request form. Ask how it should be delivered. Use my real business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Help me connect my website form to Resend. Ask for my notification email and sending domain. Guide me through domain verification and adding RESEND_API_KEY securely on the server and Vercel. Send lead details to my fixed notification address; put the lead’s email in Reply-To. Add input checks and spam protection. Redeploy the updated form. Ask before a test submission and confirm the email arrives.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First ask me to attach or paste PROJECT-BRIEF.md from my website project. Confirm the business details, then use my lead inbox to draft replies to new inquiries. Ask which inbox or label to watch and how often. Test one sample lead first. Save the workflow as a routine: use a supported event trigger, or check every five minutes. Track processed leads to avoid duplicates. Draft a short, personal reply for each new lead and notify me. Never send it without my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Help me check my main contact button. Does it lead to the right phone number, email, or booking page? If I use a form, ask before sending a test and confirm the message arrives. Then draft a short social profile bio using the same offer as my website. Show me the draft. Do not post it or change my accounts.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Make a simple plan for my next seven days. Give me one small task per day. Start with unfinished website checks. Include one social profile update and feedback from three potential customers. Fit the plan around my available time. Explain how to reopen my project. Do not publish or change accounts.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Use my marketing website to create social graphics. First ask which platforms and formats I want, and offer examples. Check current size requirements. Match my site’s colors, fonts, offer, and approved images. Show two designs and let me choose. Export labeled PNG files with captions and alt text in social-exports/.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Full attendee prompt:</a:t>
            </a:r>
          </a:p>
          <a:p xmlns:a="http://schemas.openxmlformats.org/drawingml/2006/main">
            <a:r>
              <a:t>Help me set up browser computer use for Claude or Codex using the official setup guide: Claude https://support.claude.com/en/articles/12012173-get-started-with-claude-in-chrome or Codex https://learn.chatgpt.com/docs/chrome-extension. Ask me to locate or attach my social-exports/ graphics and captions; check that you can access them. Ask which social platform and business account to use. Let me sign in myself. In Chrome, upload my chosen social-exports/ files and add the matching captions and alt text where supported. Check the crop and account. Show me the prepared post. Ask for my approval before publishing or scheduling, then verify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Attendee setup prompt continuation.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Attendee setup prompt continuation.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Attendee setup prompt continuation.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a:p xmlns:a="http://schemas.openxmlformats.org/drawingml/2006/main">
            <a:r>
              <a:t>Attendee setup prompt continuation.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https://nextjs.org/docs/app/getting-started/installation</a:t>
            </a:r>
          </a:p>
          <a:p xmlns:a="http://schemas.openxmlformats.org/drawingml/2006/main">
            <a:r>
              <a:t>https://code.claude.com/docs/en/model-config</a:t>
            </a:r>
          </a:p>
          <a:p xmlns:a="http://schemas.openxmlformats.org/drawingml/2006/main">
            <a:r>
              <a:t>https://skills.sh/docs</a:t>
            </a:r>
          </a:p>
          <a:p xmlns:a="http://schemas.openxmlformats.org/drawingml/2006/main">
            <a:r>
              <a:t>https://skills.sh/anthropics/skills/frontend-design</a:t>
            </a:r>
          </a:p>
          <a:p xmlns:a="http://schemas.openxmlformats.org/drawingml/2006/main">
            <a:r>
              <a:t>https://skills.sh/coreyhaines31/marketingskills/copywriting</a:t>
            </a:r>
          </a:p>
          <a:p xmlns:a="http://schemas.openxmlformats.org/drawingml/2006/main">
            <a:r>
              <a:t>https://www.skills.sh/coreyhaines31/marketingskills/seo-audit/security/snyk</a:t>
            </a:r>
          </a:p>
          <a:p xmlns:a="http://schemas.openxmlformats.org/drawingml/2006/main">
            <a:r>
              <a:t>https://skills.sh/coreyhaines31/marketingskills/cro</a:t>
            </a:r>
          </a:p>
          <a:p xmlns:a="http://schemas.openxmlformats.org/drawingml/2006/main">
            <a:r>
              <a:t>https://skills.sh/coreyhaines31/marketingskills/programmatic-seo</a:t>
            </a:r>
          </a:p>
          <a:p xmlns:a="http://schemas.openxmlformats.org/drawingml/2006/main">
            <a:r>
              <a:t>https://skills.sh/coreyhaines31/marketingskills/ai-seo</a:t>
            </a:r>
          </a:p>
          <a:p xmlns:a="http://schemas.openxmlformats.org/drawingml/2006/main">
            <a:r>
              <a:t>https://skills.sh/coreyhaines31/marketingskills/seo-audit</a:t>
            </a:r>
          </a:p>
          <a:p xmlns:a="http://schemas.openxmlformats.org/drawingml/2006/main">
            <a:r>
              <a:t>https://is-agentic.com/docs</a:t>
            </a:r>
          </a:p>
          <a:p xmlns:a="http://schemas.openxmlformats.org/drawingml/2006/main">
            <a:r>
              <a:t>https://vercel.com/docs/deployments</a:t>
            </a:r>
          </a:p>
          <a:p xmlns:a="http://schemas.openxmlformats.org/drawingml/2006/main">
            <a:r>
              <a:t>https://resend.com/docs/send-with-nextjs</a:t>
            </a:r>
          </a:p>
          <a:p xmlns:a="http://schemas.openxmlformats.org/drawingml/2006/main">
            <a:r>
              <a:t>https://resend.com/docs/dashboard/domains/introduction</a:t>
            </a:r>
          </a:p>
          <a:p xmlns:a="http://schemas.openxmlformats.org/drawingml/2006/main">
            <a:r>
              <a:t>https://docs.x.ai/grok-bot/get-started</a:t>
            </a:r>
          </a:p>
          <a:p xmlns:a="http://schemas.openxmlformats.org/drawingml/2006/main">
            <a:r>
              <a:t>https://docs.x.ai/grok-bot/skills-routines-and-automations</a:t>
            </a:r>
          </a:p>
          <a:p xmlns:a="http://schemas.openxmlformats.org/drawingml/2006/main">
            <a:r>
              <a:t>https://support.claude.com/en/articles/12012173-get-started-with-claude-in-chrome</a:t>
            </a:r>
          </a:p>
          <a:p xmlns:a="http://schemas.openxmlformats.org/drawingml/2006/main">
            <a:r>
              <a:t>https://learn.chatgpt.com/docs/chrome-extension</a:t>
            </a:r>
          </a:p>
          <a:p xmlns:a="http://schemas.openxmlformats.org/drawingml/2006/main">
            <a:r>
              <a:t>Native diagrams match the marketing-site deck. Fictional examples are labeled.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9c363526ed43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473c3af71c49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e29a6f9f1e44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f0f420e7ed4b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ed503fdf3840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3a8c5526d043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F30EF2-85A2-440C-B5EE-19DAC4D8FA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D0A413-2557-4D75-9211-F59EE5D1DF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E2D759-F8C2-4A0D-BDB1-8D6FD7193E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CA2C69-75F9-47E3-81E0-1424408CDD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F0CC26-3B32-499B-877F-DE12B066BC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CA4E67-C75F-4B02-B801-714DC2D98B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731724-60E3-4B8F-B56D-E4E93FBC4A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0B74D7-F980-4CD4-AFDC-4727C5DCC3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F4CC94-4946-4E8C-9495-965962E696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4819CA-16EF-4ED3-AD82-F776757AAB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f48faf13034fee" /><Relationship Type="http://schemas.openxmlformats.org/officeDocument/2006/relationships/slideLayout" Target="/ppt/slideLayouts/slideLayout1.xml" Id="R80fd80cc5d944dfc" /><Relationship Type="http://schemas.openxmlformats.org/officeDocument/2006/relationships/slideLayout" Target="/ppt/slideLayouts/slideLayout2.xml" Id="R3454e9685c0a48f8" /><Relationship Type="http://schemas.openxmlformats.org/officeDocument/2006/relationships/slideLayout" Target="/ppt/slideLayouts/slideLayout3.xml" Id="Ra3cf10f606c340dc" /><Relationship Type="http://schemas.openxmlformats.org/officeDocument/2006/relationships/slideLayout" Target="/ppt/slideLayouts/slideLayout4.xml" Id="Rcd26eb7c46554d48" /><Relationship Type="http://schemas.openxmlformats.org/officeDocument/2006/relationships/slideLayout" Target="/ppt/slideLayouts/slideLayout5.xml" Id="R5d6b6865f13c4034" /><Relationship Type="http://schemas.openxmlformats.org/officeDocument/2006/relationships/slideLayout" Target="/ppt/slideLayouts/slideLayout6.xml" Id="Rd585d034144545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fd80cc5d944dfc"/>
    <p:sldLayoutId xmlns:r="http://schemas.openxmlformats.org/officeDocument/2006/relationships" id="2147483650" r:id="R3454e9685c0a48f8"/>
    <p:sldLayoutId xmlns:r="http://schemas.openxmlformats.org/officeDocument/2006/relationships" id="2147483651" r:id="Ra3cf10f606c340dc"/>
    <p:sldLayoutId xmlns:r="http://schemas.openxmlformats.org/officeDocument/2006/relationships" id="2147483652" r:id="Rcd26eb7c46554d48"/>
    <p:sldLayoutId xmlns:r="http://schemas.openxmlformats.org/officeDocument/2006/relationships" id="2147483653" r:id="R5d6b6865f13c4034"/>
    <p:sldLayoutId xmlns:r="http://schemas.openxmlformats.org/officeDocument/2006/relationships" id="2147483654" r:id="Rd585d034144545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2bab02397c4e11" /><Relationship Type="http://schemas.openxmlformats.org/officeDocument/2006/relationships/notesSlide" Target="/ppt/notesSlides/notesSlide1.xml" Id="R4b9d9769c2714a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a809fa9194464a" /><Relationship Type="http://schemas.openxmlformats.org/officeDocument/2006/relationships/notesSlide" Target="/ppt/notesSlides/notesSlide2.xml" Id="R0bc37fbac3a1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c044c771164473" /><Relationship Type="http://schemas.openxmlformats.org/officeDocument/2006/relationships/notesSlide" Target="/ppt/notesSlides/notesSlide3.xml" Id="Ra234e045ab4b49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035a54a65f4d75" /><Relationship Type="http://schemas.openxmlformats.org/officeDocument/2006/relationships/notesSlide" Target="/ppt/notesSlides/notesSlide4.xml" Id="R6ea5dbb6b3284a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e47c35f5004acc" /><Relationship Type="http://schemas.openxmlformats.org/officeDocument/2006/relationships/notesSlide" Target="/ppt/notesSlides/notesSlide5.xml" Id="R093065209f2449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4ce24c8c944f22" /><Relationship Type="http://schemas.openxmlformats.org/officeDocument/2006/relationships/notesSlide" Target="/ppt/notesSlides/notesSlide6.xml" Id="Re141526b185549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918ab34ef0487d" /><Relationship Type="http://schemas.openxmlformats.org/officeDocument/2006/relationships/notesSlide" Target="/ppt/notesSlides/notesSlide7.xml" Id="Rbb9e32f110bd43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14c30ef29b4bf5" /><Relationship Type="http://schemas.openxmlformats.org/officeDocument/2006/relationships/notesSlide" Target="/ppt/notesSlides/notesSlide8.xml" Id="R2414fd0460534c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5f4f4948b542d4" /><Relationship Type="http://schemas.openxmlformats.org/officeDocument/2006/relationships/notesSlide" Target="/ppt/notesSlides/notesSlide9.xml" Id="R64f4b906ecfe44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e1deea3d52e428f" /><Relationship Type="http://schemas.openxmlformats.org/officeDocument/2006/relationships/notesSlide" Target="/ppt/notesSlides/notesSlide10.xml" Id="Re97885a0f4ed49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89299b6c664bc3" /><Relationship Type="http://schemas.openxmlformats.org/officeDocument/2006/relationships/notesSlide" Target="/ppt/notesSlides/notesSlide11.xml" Id="R968f267fafba48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d1ce94a1c2447f" /><Relationship Type="http://schemas.openxmlformats.org/officeDocument/2006/relationships/notesSlide" Target="/ppt/notesSlides/notesSlide12.xml" Id="R4d67fe87810245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de5d947a5634b12" /><Relationship Type="http://schemas.openxmlformats.org/officeDocument/2006/relationships/notesSlide" Target="/ppt/notesSlides/notesSlide13.xml" Id="R72431422957a40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6604336a9a4580" /><Relationship Type="http://schemas.openxmlformats.org/officeDocument/2006/relationships/notesSlide" Target="/ppt/notesSlides/notesSlide14.xml" Id="R0e36a645950649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cf0a5615afc44d2" /><Relationship Type="http://schemas.openxmlformats.org/officeDocument/2006/relationships/image" Target="/ppt/media/image.png" Id="R4c2b67e7ba17422f" /><Relationship Type="http://schemas.openxmlformats.org/officeDocument/2006/relationships/image" Target="/ppt/media/image.svg" Id="Rc3f470bcaec5468c" /><Relationship Type="http://schemas.openxmlformats.org/officeDocument/2006/relationships/image" Target="/ppt/media/image2.png" Id="Re803c00e335c469b" /><Relationship Type="http://schemas.openxmlformats.org/officeDocument/2006/relationships/image" Target="/ppt/media/image2.svg" Id="R1e34a298de2f4d99" /><Relationship Type="http://schemas.openxmlformats.org/officeDocument/2006/relationships/notesSlide" Target="/ppt/notesSlides/notesSlide15.xml" Id="Rc5579bb1a2604b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fdd81d63ab14821" /><Relationship Type="http://schemas.openxmlformats.org/officeDocument/2006/relationships/notesSlide" Target="/ppt/notesSlides/notesSlide16.xml" Id="Rb5af5ba6f07b40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94665b432c449c7" /><Relationship Type="http://schemas.openxmlformats.org/officeDocument/2006/relationships/notesSlide" Target="/ppt/notesSlides/notesSlide17.xml" Id="R6f68c95ff1ad44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b63c03f4c04a0f" /><Relationship Type="http://schemas.openxmlformats.org/officeDocument/2006/relationships/notesSlide" Target="/ppt/notesSlides/notesSlide18.xml" Id="Ra52383286c4047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5bb9a7b3a814d4e" /><Relationship Type="http://schemas.openxmlformats.org/officeDocument/2006/relationships/notesSlide" Target="/ppt/notesSlides/notesSlide19.xml" Id="R2a726553aa524a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5003bb76ae2435c" /><Relationship Type="http://schemas.openxmlformats.org/officeDocument/2006/relationships/notesSlide" Target="/ppt/notesSlides/notesSlide20.xml" Id="R9e3d7e285c1d4d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d48d8a556e14710" /><Relationship Type="http://schemas.openxmlformats.org/officeDocument/2006/relationships/notesSlide" Target="/ppt/notesSlides/notesSlide21.xml" Id="Rbc80534207b64b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e755c8e4eab4463" /><Relationship Type="http://schemas.openxmlformats.org/officeDocument/2006/relationships/notesSlide" Target="/ppt/notesSlides/notesSlide22.xml" Id="Ra7d199ff9d924d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bd81d601b4c4968" /><Relationship Type="http://schemas.openxmlformats.org/officeDocument/2006/relationships/notesSlide" Target="/ppt/notesSlides/notesSlide23.xml" Id="R97aacba52fe445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849bffdbb31409c" /><Relationship Type="http://schemas.openxmlformats.org/officeDocument/2006/relationships/notesSlide" Target="/ppt/notesSlides/notesSlide24.xml" Id="R46ca886e1dc34d6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6F4F4C-BF73-49FA-9B27-2FD649EDAA17}"/>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Build Your Website And Marketing Presence With AI</a:t>
            </a:r>
          </a:p>
        </p:txBody>
      </p:sp>
      <p:sp>
        <p:nvSpPr>
          <p:cNvPr id="2" name="">
            <a:extLst xmlns:a="http://schemas.openxmlformats.org/drawingml/2006/main">
              <a:ext uri="{FF2B5EF4-FFF2-40B4-BE49-F238E27FC236}">
                <a16:creationId xmlns:a16="http://schemas.microsoft.com/office/drawing/2014/main" id="{AF381BF3-0038-42A9-A730-3B104F2B08D4}"/>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1060A780-CDF2-4182-8DDF-98BC62FFAAB3}"/>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8E0C98F6-D46B-4C6B-B989-BE1229FE996F}"/>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October 10 · 9 AM–1 PM · Santos Hernandez and Raj Shah</a:t>
            </a:r>
          </a:p>
        </p:txBody>
      </p:sp>
      <p:sp>
        <p:nvSpPr>
          <p:cNvPr id="5" name="">
            <a:extLst xmlns:a="http://schemas.openxmlformats.org/drawingml/2006/main">
              <a:ext uri="{FF2B5EF4-FFF2-40B4-BE49-F238E27FC236}">
                <a16:creationId xmlns:a16="http://schemas.microsoft.com/office/drawing/2014/main" id="{84B56482-B37E-43F8-B148-769AC18C0A6F}"/>
              </a:ext>
            </a:extLst>
          </p:cNvPr>
          <p:cNvSpPr>
            <a:spLocks xmlns:a="http://schemas.openxmlformats.org/drawingml/2006/main" noGrp="1"/>
          </p:cNvSpPr>
          <p:nvPr/>
        </p:nvSpPr>
        <p:spPr>
          <a:xfrm xmlns:a="http://schemas.openxmlformats.org/drawingml/2006/main">
            <a:off x="666750" y="2381250"/>
            <a:ext cx="3619500" cy="3333750"/>
          </a:xfrm>
          <a:prstGeom xmlns:a="http://schemas.openxmlformats.org/drawingml/2006/main" prst="rect">
            <a:avLst/>
          </a:prstGeom>
          <a:solidFill xmlns:a="http://schemas.openxmlformats.org/drawingml/2006/main">
            <a:srgbClr val="EDF0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0A1A85F0-5246-471B-834E-DDA2B5618701}"/>
              </a:ext>
            </a:extLst>
          </p:cNvPr>
          <p:cNvSpPr>
            <a:spLocks xmlns:a="http://schemas.openxmlformats.org/drawingml/2006/main" noGrp="1"/>
          </p:cNvSpPr>
          <p:nvPr/>
        </p:nvSpPr>
        <p:spPr>
          <a:xfrm xmlns:a="http://schemas.openxmlformats.org/drawingml/2006/main">
            <a:off x="952500" y="2667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55CA"/>
                </a:solidFill>
                <a:latin typeface="Helvetica Neue"/>
                <a:ea typeface="Helvetica Neue"/>
                <a:cs typeface="Helvetica Neue"/>
              </a:defRPr>
            </a:defPPr>
          </a:lstStyle>
          <a:p xmlns:a="http://schemas.openxmlformats.org/drawingml/2006/main">
            <a:pPr>
              <a:defRPr sz="1350" b="0">
                <a:solidFill>
                  <a:srgbClr val="3E55CA"/>
                </a:solidFill>
                <a:latin typeface="Helvetica Neue"/>
                <a:ea typeface="Helvetica Neue"/>
                <a:cs typeface="Helvetica Neue"/>
              </a:defRPr>
            </a:pPr>
            <a:r>
              <a:rPr sz="1350" b="0">
                <a:solidFill>
                  <a:srgbClr val="3E55CA"/>
                </a:solidFill>
                <a:latin typeface="Helvetica Neue"/>
                <a:ea typeface="Helvetica Neue"/>
                <a:cs typeface="Helvetica Neue"/>
              </a:rPr>
              <a:t>SHIP AI / HANDS-ON WORKSHOP</a:t>
            </a:r>
          </a:p>
        </p:txBody>
      </p:sp>
      <p:sp>
        <p:nvSpPr>
          <p:cNvPr id="7" name="">
            <a:extLst xmlns:a="http://schemas.openxmlformats.org/drawingml/2006/main">
              <a:ext uri="{FF2B5EF4-FFF2-40B4-BE49-F238E27FC236}">
                <a16:creationId xmlns:a16="http://schemas.microsoft.com/office/drawing/2014/main" id="{17E8BD50-CD93-4D69-A674-14E657B6B6BE}"/>
              </a:ext>
            </a:extLst>
          </p:cNvPr>
          <p:cNvSpPr>
            <a:spLocks xmlns:a="http://schemas.openxmlformats.org/drawingml/2006/main" noGrp="1"/>
          </p:cNvSpPr>
          <p:nvPr/>
        </p:nvSpPr>
        <p:spPr>
          <a:xfrm xmlns:a="http://schemas.openxmlformats.org/drawingml/2006/main">
            <a:off x="952500" y="371475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11318"/>
                </a:solidFill>
                <a:latin typeface="Helvetica Neue"/>
                <a:ea typeface="Helvetica Neue"/>
                <a:cs typeface="Helvetica Neue"/>
              </a:defRPr>
            </a:defPPr>
          </a:lstStyle>
          <a:p xmlns:a="http://schemas.openxmlformats.org/drawingml/2006/main">
            <a:pPr>
              <a:defRPr sz="3900" b="1">
                <a:solidFill>
                  <a:srgbClr val="111318"/>
                </a:solidFill>
                <a:latin typeface="Helvetica Neue"/>
                <a:ea typeface="Helvetica Neue"/>
                <a:cs typeface="Helvetica Neue"/>
              </a:defRPr>
            </a:pPr>
            <a:r>
              <a:rPr sz="3900" b="1">
                <a:solidFill>
                  <a:srgbClr val="111318"/>
                </a:solidFill>
                <a:latin typeface="Helvetica Neue"/>
                <a:ea typeface="Helvetica Neue"/>
                <a:cs typeface="Helvetica Neue"/>
              </a:rPr>
              <a:t>Ship AI →</a:t>
            </a:r>
          </a:p>
        </p:txBody>
      </p:sp>
      <p:sp>
        <p:nvSpPr>
          <p:cNvPr id="8" name="">
            <a:extLst xmlns:a="http://schemas.openxmlformats.org/drawingml/2006/main">
              <a:ext uri="{FF2B5EF4-FFF2-40B4-BE49-F238E27FC236}">
                <a16:creationId xmlns:a16="http://schemas.microsoft.com/office/drawing/2014/main" id="{400383D3-A858-444F-82A8-2CE7B4F973CA}"/>
              </a:ext>
            </a:extLst>
          </p:cNvPr>
          <p:cNvSpPr>
            <a:spLocks xmlns:a="http://schemas.openxmlformats.org/drawingml/2006/main" noGrp="1"/>
          </p:cNvSpPr>
          <p:nvPr/>
        </p:nvSpPr>
        <p:spPr>
          <a:xfrm xmlns:a="http://schemas.openxmlformats.org/drawingml/2006/main">
            <a:off x="952500" y="50006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E55CA"/>
                </a:solidFill>
                <a:latin typeface="Helvetica Neue"/>
                <a:ea typeface="Helvetica Neue"/>
                <a:cs typeface="Helvetica Neue"/>
              </a:defRPr>
            </a:defPPr>
          </a:lstStyle>
          <a:p xmlns:a="http://schemas.openxmlformats.org/drawingml/2006/main">
            <a:pPr>
              <a:defRPr sz="1800" b="0">
                <a:solidFill>
                  <a:srgbClr val="3E55CA"/>
                </a:solidFill>
                <a:latin typeface="Helvetica Neue"/>
                <a:ea typeface="Helvetica Neue"/>
                <a:cs typeface="Helvetica Neue"/>
              </a:defRPr>
            </a:pPr>
            <a:r>
              <a:rPr sz="1800" b="0">
                <a:solidFill>
                  <a:srgbClr val="3E55CA"/>
                </a:solidFill>
                <a:latin typeface="Helvetica Neue"/>
                <a:ea typeface="Helvetica Neue"/>
                <a:cs typeface="Helvetica Neue"/>
              </a:rPr>
              <a:t>Build. Learn. Ship.</a:t>
            </a:r>
          </a:p>
        </p:txBody>
      </p:sp>
      <p:sp>
        <p:nvSpPr>
          <p:cNvPr id="9" name="">
            <a:extLst xmlns:a="http://schemas.openxmlformats.org/drawingml/2006/main">
              <a:ext uri="{FF2B5EF4-FFF2-40B4-BE49-F238E27FC236}">
                <a16:creationId xmlns:a16="http://schemas.microsoft.com/office/drawing/2014/main" id="{06D154EA-DAEB-4EF4-A0AF-22CFB6B5EBA5}"/>
              </a:ext>
            </a:extLst>
          </p:cNvPr>
          <p:cNvSpPr>
            <a:spLocks xmlns:a="http://schemas.openxmlformats.org/drawingml/2006/main" noGrp="1"/>
          </p:cNvSpPr>
          <p:nvPr/>
        </p:nvSpPr>
        <p:spPr>
          <a:xfrm xmlns:a="http://schemas.openxmlformats.org/drawingml/2006/main">
            <a:off x="4857750" y="2524125"/>
            <a:ext cx="6286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11318"/>
                </a:solidFill>
                <a:latin typeface="Helvetica Neue"/>
                <a:ea typeface="Helvetica Neue"/>
                <a:cs typeface="Helvetica Neue"/>
              </a:defRPr>
            </a:defPPr>
          </a:lstStyle>
          <a:p xmlns:a="http://schemas.openxmlformats.org/drawingml/2006/main">
            <a:pPr>
              <a:defRPr sz="4200" b="1">
                <a:solidFill>
                  <a:srgbClr val="111318"/>
                </a:solidFill>
                <a:latin typeface="Helvetica Neue"/>
                <a:ea typeface="Helvetica Neue"/>
                <a:cs typeface="Helvetica Neue"/>
              </a:defRPr>
            </a:pPr>
            <a:r>
              <a:rPr sz="4200" b="1">
                <a:solidFill>
                  <a:srgbClr val="111318"/>
                </a:solidFill>
                <a:latin typeface="Helvetica Neue"/>
                <a:ea typeface="Helvetica Neue"/>
                <a:cs typeface="Helvetica Neue"/>
              </a:rPr>
              <a:t>Your business.</a:t>
            </a:r>
          </a:p>
          <a:p xmlns:a="http://schemas.openxmlformats.org/drawingml/2006/main">
            <a:pPr>
              <a:defRPr sz="4200" b="1">
                <a:solidFill>
                  <a:srgbClr val="111318"/>
                </a:solidFill>
                <a:latin typeface="Helvetica Neue"/>
                <a:ea typeface="Helvetica Neue"/>
                <a:cs typeface="Helvetica Neue"/>
              </a:defRPr>
            </a:pPr>
            <a:r>
              <a:rPr sz="4200" b="1">
                <a:solidFill>
                  <a:srgbClr val="111318"/>
                </a:solidFill>
                <a:latin typeface="Helvetica Neue"/>
                <a:ea typeface="Helvetica Neue"/>
                <a:cs typeface="Helvetica Neue"/>
              </a:rPr>
              <a:t>Your website.</a:t>
            </a:r>
          </a:p>
          <a:p xmlns:a="http://schemas.openxmlformats.org/drawingml/2006/main">
            <a:pPr>
              <a:defRPr sz="4200" b="1">
                <a:solidFill>
                  <a:srgbClr val="111318"/>
                </a:solidFill>
                <a:latin typeface="Helvetica Neue"/>
                <a:ea typeface="Helvetica Neue"/>
                <a:cs typeface="Helvetica Neue"/>
              </a:defRPr>
            </a:pPr>
            <a:r>
              <a:rPr sz="4200" b="1">
                <a:solidFill>
                  <a:srgbClr val="111318"/>
                </a:solidFill>
                <a:latin typeface="Helvetica Neue"/>
                <a:ea typeface="Helvetica Neue"/>
                <a:cs typeface="Helvetica Neue"/>
              </a:rPr>
              <a:t>Your next customer.</a:t>
            </a:r>
          </a:p>
        </p:txBody>
      </p:sp>
      <p:sp>
        <p:nvSpPr>
          <p:cNvPr id="10" name="">
            <a:extLst xmlns:a="http://schemas.openxmlformats.org/drawingml/2006/main">
              <a:ext uri="{FF2B5EF4-FFF2-40B4-BE49-F238E27FC236}">
                <a16:creationId xmlns:a16="http://schemas.microsoft.com/office/drawing/2014/main" id="{5806A5C0-6FE0-4823-9424-F97630EE6B72}"/>
              </a:ext>
            </a:extLst>
          </p:cNvPr>
          <p:cNvSpPr>
            <a:spLocks xmlns:a="http://schemas.openxmlformats.org/drawingml/2006/main" noGrp="1"/>
          </p:cNvSpPr>
          <p:nvPr/>
        </p:nvSpPr>
        <p:spPr>
          <a:xfrm xmlns:a="http://schemas.openxmlformats.org/drawingml/2006/main">
            <a:off x="4857750" y="5000625"/>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2037"/>
                </a:solidFill>
                <a:latin typeface="Helvetica Neue"/>
                <a:ea typeface="Helvetica Neue"/>
                <a:cs typeface="Helvetica Neue"/>
              </a:defRPr>
            </a:defPPr>
          </a:lstStyle>
          <a:p xmlns:a="http://schemas.openxmlformats.org/drawingml/2006/main">
            <a:pPr>
              <a:defRPr sz="1950" b="0">
                <a:solidFill>
                  <a:srgbClr val="192037"/>
                </a:solidFill>
                <a:latin typeface="Helvetica Neue"/>
                <a:ea typeface="Helvetica Neue"/>
                <a:cs typeface="Helvetica Neue"/>
              </a:defRPr>
            </a:pPr>
            <a:r>
              <a:rPr sz="1950" b="0">
                <a:solidFill>
                  <a:srgbClr val="192037"/>
                </a:solidFill>
                <a:latin typeface="Helvetica Neue"/>
                <a:ea typeface="Helvetica Neue"/>
                <a:cs typeface="Helvetica Neue"/>
              </a:rPr>
              <a:t>Bring your project. Leave with a page you can review.</a:t>
            </a:r>
          </a:p>
        </p:txBody>
      </p:sp>
    </p:spTree>
    <p:extLst>
      <p:ext uri="{BB962C8B-B14F-4D97-AF65-F5344CB8AC3E}">
        <p14:creationId xmlns:p14="http://schemas.microsoft.com/office/powerpoint/2010/main" val="6538757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5EC893-4976-4D84-BDE2-EFD4AFE1020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What you will leave with</a:t>
            </a:r>
          </a:p>
        </p:txBody>
      </p:sp>
      <p:sp>
        <p:nvSpPr>
          <p:cNvPr id="2" name="">
            <a:extLst xmlns:a="http://schemas.openxmlformats.org/drawingml/2006/main">
              <a:ext uri="{FF2B5EF4-FFF2-40B4-BE49-F238E27FC236}">
                <a16:creationId xmlns:a16="http://schemas.microsoft.com/office/drawing/2014/main" id="{11EDE986-D974-41C2-A8B5-E049C0619394}"/>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EA5DC8AE-A661-4138-B960-29E2167DFD18}"/>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DA9380E-CEC2-4CA7-ACB5-5AC9740D419E}"/>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A first version you can review and improve.</a:t>
            </a:r>
          </a:p>
        </p:txBody>
      </p:sp>
      <p:sp>
        <p:nvSpPr>
          <p:cNvPr id="5" name="">
            <a:extLst xmlns:a="http://schemas.openxmlformats.org/drawingml/2006/main">
              <a:ext uri="{FF2B5EF4-FFF2-40B4-BE49-F238E27FC236}">
                <a16:creationId xmlns:a16="http://schemas.microsoft.com/office/drawing/2014/main" id="{815502C8-41F3-4A67-AE22-C656172FAF55}"/>
              </a:ext>
            </a:extLst>
          </p:cNvPr>
          <p:cNvSpPr>
            <a:spLocks xmlns:a="http://schemas.openxmlformats.org/drawingml/2006/main" noGrp="1"/>
          </p:cNvSpPr>
          <p:nvPr/>
        </p:nvSpPr>
        <p:spPr>
          <a:xfrm xmlns:a="http://schemas.openxmlformats.org/drawingml/2006/main">
            <a:off x="66675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6" name="">
            <a:extLst xmlns:a="http://schemas.openxmlformats.org/drawingml/2006/main">
              <a:ext uri="{FF2B5EF4-FFF2-40B4-BE49-F238E27FC236}">
                <a16:creationId xmlns:a16="http://schemas.microsoft.com/office/drawing/2014/main" id="{3FE455DC-3C21-416F-8D88-C1BB5B0E0914}"/>
              </a:ext>
            </a:extLst>
          </p:cNvPr>
          <p:cNvSpPr>
            <a:spLocks xmlns:a="http://schemas.openxmlformats.org/drawingml/2006/main" noGrp="1"/>
          </p:cNvSpPr>
          <p:nvPr/>
        </p:nvSpPr>
        <p:spPr>
          <a:xfrm xmlns:a="http://schemas.openxmlformats.org/drawingml/2006/main">
            <a:off x="66675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2DF777C0-9AC4-4496-A3F9-1AF3FB6BB8F3}"/>
              </a:ext>
            </a:extLst>
          </p:cNvPr>
          <p:cNvSpPr>
            <a:spLocks xmlns:a="http://schemas.openxmlformats.org/drawingml/2006/main" noGrp="1"/>
          </p:cNvSpPr>
          <p:nvPr/>
        </p:nvSpPr>
        <p:spPr>
          <a:xfrm xmlns:a="http://schemas.openxmlformats.org/drawingml/2006/main">
            <a:off x="66675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 clear offer</a:t>
            </a:r>
          </a:p>
        </p:txBody>
      </p:sp>
      <p:sp>
        <p:nvSpPr>
          <p:cNvPr id="8" name="">
            <a:extLst xmlns:a="http://schemas.openxmlformats.org/drawingml/2006/main">
              <a:ext uri="{FF2B5EF4-FFF2-40B4-BE49-F238E27FC236}">
                <a16:creationId xmlns:a16="http://schemas.microsoft.com/office/drawing/2014/main" id="{0076AD7E-136E-4137-A274-659A157C57FD}"/>
              </a:ext>
            </a:extLst>
          </p:cNvPr>
          <p:cNvSpPr>
            <a:spLocks xmlns:a="http://schemas.openxmlformats.org/drawingml/2006/main" noGrp="1"/>
          </p:cNvSpPr>
          <p:nvPr/>
        </p:nvSpPr>
        <p:spPr>
          <a:xfrm xmlns:a="http://schemas.openxmlformats.org/drawingml/2006/main">
            <a:off x="66675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Say what you do and who you help.</a:t>
            </a:r>
          </a:p>
        </p:txBody>
      </p:sp>
      <p:sp>
        <p:nvSpPr>
          <p:cNvPr id="9" name="">
            <a:extLst xmlns:a="http://schemas.openxmlformats.org/drawingml/2006/main">
              <a:ext uri="{FF2B5EF4-FFF2-40B4-BE49-F238E27FC236}">
                <a16:creationId xmlns:a16="http://schemas.microsoft.com/office/drawing/2014/main" id="{0E115A46-8D4D-42A6-B31C-6E4DF30D58F4}"/>
              </a:ext>
            </a:extLst>
          </p:cNvPr>
          <p:cNvSpPr>
            <a:spLocks xmlns:a="http://schemas.openxmlformats.org/drawingml/2006/main" noGrp="1"/>
          </p:cNvSpPr>
          <p:nvPr/>
        </p:nvSpPr>
        <p:spPr>
          <a:xfrm xmlns:a="http://schemas.openxmlformats.org/drawingml/2006/main">
            <a:off x="4333875"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0" name="">
            <a:extLst xmlns:a="http://schemas.openxmlformats.org/drawingml/2006/main">
              <a:ext uri="{FF2B5EF4-FFF2-40B4-BE49-F238E27FC236}">
                <a16:creationId xmlns:a16="http://schemas.microsoft.com/office/drawing/2014/main" id="{E6D89418-671B-4408-8A97-4B967C4B2D7D}"/>
              </a:ext>
            </a:extLst>
          </p:cNvPr>
          <p:cNvSpPr>
            <a:spLocks xmlns:a="http://schemas.openxmlformats.org/drawingml/2006/main" noGrp="1"/>
          </p:cNvSpPr>
          <p:nvPr/>
        </p:nvSpPr>
        <p:spPr>
          <a:xfrm xmlns:a="http://schemas.openxmlformats.org/drawingml/2006/main">
            <a:off x="4333875"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4932D37B-3CB1-4A5C-8AF8-119EEF008D8D}"/>
              </a:ext>
            </a:extLst>
          </p:cNvPr>
          <p:cNvSpPr>
            <a:spLocks xmlns:a="http://schemas.openxmlformats.org/drawingml/2006/main" noGrp="1"/>
          </p:cNvSpPr>
          <p:nvPr/>
        </p:nvSpPr>
        <p:spPr>
          <a:xfrm xmlns:a="http://schemas.openxmlformats.org/drawingml/2006/main">
            <a:off x="4333875"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 website preview</a:t>
            </a:r>
          </a:p>
        </p:txBody>
      </p:sp>
      <p:sp>
        <p:nvSpPr>
          <p:cNvPr id="12" name="">
            <a:extLst xmlns:a="http://schemas.openxmlformats.org/drawingml/2006/main">
              <a:ext uri="{FF2B5EF4-FFF2-40B4-BE49-F238E27FC236}">
                <a16:creationId xmlns:a16="http://schemas.microsoft.com/office/drawing/2014/main" id="{36DF1BCC-49BD-46AB-A0C6-F92B08C4C0FA}"/>
              </a:ext>
            </a:extLst>
          </p:cNvPr>
          <p:cNvSpPr>
            <a:spLocks xmlns:a="http://schemas.openxmlformats.org/drawingml/2006/main" noGrp="1"/>
          </p:cNvSpPr>
          <p:nvPr/>
        </p:nvSpPr>
        <p:spPr>
          <a:xfrm xmlns:a="http://schemas.openxmlformats.org/drawingml/2006/main">
            <a:off x="4333875"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See your page on a computer and phone.</a:t>
            </a:r>
          </a:p>
        </p:txBody>
      </p:sp>
      <p:sp>
        <p:nvSpPr>
          <p:cNvPr id="13" name="">
            <a:extLst xmlns:a="http://schemas.openxmlformats.org/drawingml/2006/main">
              <a:ext uri="{FF2B5EF4-FFF2-40B4-BE49-F238E27FC236}">
                <a16:creationId xmlns:a16="http://schemas.microsoft.com/office/drawing/2014/main" id="{29FE8746-3CAD-4793-BFB8-D97DA9544860}"/>
              </a:ext>
            </a:extLst>
          </p:cNvPr>
          <p:cNvSpPr>
            <a:spLocks xmlns:a="http://schemas.openxmlformats.org/drawingml/2006/main" noGrp="1"/>
          </p:cNvSpPr>
          <p:nvPr/>
        </p:nvSpPr>
        <p:spPr>
          <a:xfrm xmlns:a="http://schemas.openxmlformats.org/drawingml/2006/main">
            <a:off x="800100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4" name="">
            <a:extLst xmlns:a="http://schemas.openxmlformats.org/drawingml/2006/main">
              <a:ext uri="{FF2B5EF4-FFF2-40B4-BE49-F238E27FC236}">
                <a16:creationId xmlns:a16="http://schemas.microsoft.com/office/drawing/2014/main" id="{9CC439E9-D25A-4820-8562-1BC7FFCC48B3}"/>
              </a:ext>
            </a:extLst>
          </p:cNvPr>
          <p:cNvSpPr>
            <a:spLocks xmlns:a="http://schemas.openxmlformats.org/drawingml/2006/main" noGrp="1"/>
          </p:cNvSpPr>
          <p:nvPr/>
        </p:nvSpPr>
        <p:spPr>
          <a:xfrm xmlns:a="http://schemas.openxmlformats.org/drawingml/2006/main">
            <a:off x="800100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11782042-881F-4EA7-9C8C-2E798A753241}"/>
              </a:ext>
            </a:extLst>
          </p:cNvPr>
          <p:cNvSpPr>
            <a:spLocks xmlns:a="http://schemas.openxmlformats.org/drawingml/2006/main" noGrp="1"/>
          </p:cNvSpPr>
          <p:nvPr/>
        </p:nvSpPr>
        <p:spPr>
          <a:xfrm xmlns:a="http://schemas.openxmlformats.org/drawingml/2006/main">
            <a:off x="800100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 customer next step</a:t>
            </a:r>
          </a:p>
        </p:txBody>
      </p:sp>
      <p:sp>
        <p:nvSpPr>
          <p:cNvPr id="16" name="">
            <a:extLst xmlns:a="http://schemas.openxmlformats.org/drawingml/2006/main">
              <a:ext uri="{FF2B5EF4-FFF2-40B4-BE49-F238E27FC236}">
                <a16:creationId xmlns:a16="http://schemas.microsoft.com/office/drawing/2014/main" id="{401858F9-3DC2-414C-BA42-A5231CBFC286}"/>
              </a:ext>
            </a:extLst>
          </p:cNvPr>
          <p:cNvSpPr>
            <a:spLocks xmlns:a="http://schemas.openxmlformats.org/drawingml/2006/main" noGrp="1"/>
          </p:cNvSpPr>
          <p:nvPr/>
        </p:nvSpPr>
        <p:spPr>
          <a:xfrm xmlns:a="http://schemas.openxmlformats.org/drawingml/2006/main">
            <a:off x="800100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Help visitors contact you or book.</a:t>
            </a:r>
          </a:p>
        </p:txBody>
      </p:sp>
    </p:spTree>
    <p:extLst>
      <p:ext uri="{BB962C8B-B14F-4D97-AF65-F5344CB8AC3E}">
        <p14:creationId xmlns:p14="http://schemas.microsoft.com/office/powerpoint/2010/main" val="4241229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DC8E5D-5AE8-4D8C-8FD1-5E3ECDB4DFF8}"/>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Tell AI about your business</a:t>
            </a:r>
          </a:p>
        </p:txBody>
      </p:sp>
      <p:sp>
        <p:nvSpPr>
          <p:cNvPr id="2" name="">
            <a:extLst xmlns:a="http://schemas.openxmlformats.org/drawingml/2006/main">
              <a:ext uri="{FF2B5EF4-FFF2-40B4-BE49-F238E27FC236}">
                <a16:creationId xmlns:a16="http://schemas.microsoft.com/office/drawing/2014/main" id="{872179A8-B037-4B65-826F-6743F1364663}"/>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9274C5F8-5460-481B-9778-A2D93362E658}"/>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51BD066-AE18-4B7F-9BC2-B5C3A0DCE921}"/>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Have a website or business document? Start there.</a:t>
            </a:r>
          </a:p>
        </p:txBody>
      </p:sp>
      <p:sp>
        <p:nvSpPr>
          <p:cNvPr id="5" name="">
            <a:extLst xmlns:a="http://schemas.openxmlformats.org/drawingml/2006/main">
              <a:ext uri="{FF2B5EF4-FFF2-40B4-BE49-F238E27FC236}">
                <a16:creationId xmlns:a16="http://schemas.microsoft.com/office/drawing/2014/main" id="{99A9923A-71E4-4034-BEC4-34F79717EB1C}"/>
              </a:ext>
            </a:extLst>
          </p:cNvPr>
          <p:cNvSpPr>
            <a:spLocks xmlns:a="http://schemas.openxmlformats.org/drawingml/2006/main" noGrp="1"/>
          </p:cNvSpPr>
          <p:nvPr/>
        </p:nvSpPr>
        <p:spPr>
          <a:xfrm xmlns:a="http://schemas.openxmlformats.org/drawingml/2006/main">
            <a:off x="666750" y="2019300"/>
            <a:ext cx="3810000" cy="2133600"/>
          </a:xfrm>
          <a:prstGeom xmlns:a="http://schemas.openxmlformats.org/drawingml/2006/main" prst="rect">
            <a:avLst/>
          </a:prstGeom>
          <a:solidFill xmlns:a="http://schemas.openxmlformats.org/drawingml/2006/main">
            <a:srgbClr val="F2F3F0"/>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0D6B8E24-0F86-40B2-A7E4-82491275B3FA}"/>
              </a:ext>
            </a:extLst>
          </p:cNvPr>
          <p:cNvSpPr>
            <a:spLocks xmlns:a="http://schemas.openxmlformats.org/drawingml/2006/main" noGrp="1"/>
          </p:cNvSpPr>
          <p:nvPr/>
        </p:nvSpPr>
        <p:spPr>
          <a:xfrm xmlns:a="http://schemas.openxmlformats.org/drawingml/2006/main">
            <a:off x="895350" y="21907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55CA"/>
                </a:solidFill>
                <a:latin typeface="Helvetica Neue"/>
                <a:ea typeface="Helvetica Neue"/>
                <a:cs typeface="Helvetica Neue"/>
              </a:defRPr>
            </a:defPPr>
          </a:lstStyle>
          <a:p xmlns:a="http://schemas.openxmlformats.org/drawingml/2006/main">
            <a:pPr>
              <a:defRPr sz="1350" b="0">
                <a:solidFill>
                  <a:srgbClr val="3E55CA"/>
                </a:solidFill>
                <a:latin typeface="Helvetica Neue"/>
                <a:ea typeface="Helvetica Neue"/>
                <a:cs typeface="Helvetica Neue"/>
              </a:defRPr>
            </a:pPr>
            <a:r>
              <a:rPr sz="1350" b="0">
                <a:solidFill>
                  <a:srgbClr val="3E55CA"/>
                </a:solidFill>
                <a:latin typeface="Helvetica Neue"/>
                <a:ea typeface="Helvetica Neue"/>
                <a:cs typeface="Helvetica Neue"/>
              </a:rPr>
              <a:t>BEFORE / TOO BROAD</a:t>
            </a:r>
          </a:p>
        </p:txBody>
      </p:sp>
      <p:sp>
        <p:nvSpPr>
          <p:cNvPr id="7" name="">
            <a:extLst xmlns:a="http://schemas.openxmlformats.org/drawingml/2006/main">
              <a:ext uri="{FF2B5EF4-FFF2-40B4-BE49-F238E27FC236}">
                <a16:creationId xmlns:a16="http://schemas.microsoft.com/office/drawing/2014/main" id="{9E18E1D3-024F-4D6C-B505-B6456CE5F11C}"/>
              </a:ext>
            </a:extLst>
          </p:cNvPr>
          <p:cNvSpPr>
            <a:spLocks xmlns:a="http://schemas.openxmlformats.org/drawingml/2006/main" noGrp="1"/>
          </p:cNvSpPr>
          <p:nvPr/>
        </p:nvSpPr>
        <p:spPr>
          <a:xfrm xmlns:a="http://schemas.openxmlformats.org/drawingml/2006/main">
            <a:off x="895350" y="2571750"/>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11318"/>
                </a:solidFill>
                <a:latin typeface="Helvetica Neue"/>
                <a:ea typeface="Helvetica Neue"/>
                <a:cs typeface="Helvetica Neue"/>
              </a:defRPr>
            </a:defPPr>
          </a:lstStyle>
          <a:p xmlns:a="http://schemas.openxmlformats.org/drawingml/2006/main">
            <a:pP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We do everything.</a:t>
            </a:r>
          </a:p>
          <a:p xmlns:a="http://schemas.openxmlformats.org/drawingml/2006/main">
            <a:pP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For everyone.</a:t>
            </a:r>
          </a:p>
        </p:txBody>
      </p:sp>
      <p:sp>
        <p:nvSpPr>
          <p:cNvPr id="8" name="">
            <a:extLst xmlns:a="http://schemas.openxmlformats.org/drawingml/2006/main">
              <a:ext uri="{FF2B5EF4-FFF2-40B4-BE49-F238E27FC236}">
                <a16:creationId xmlns:a16="http://schemas.microsoft.com/office/drawing/2014/main" id="{56A5FE46-172D-48CF-A585-E4EDE6604CC0}"/>
              </a:ext>
            </a:extLst>
          </p:cNvPr>
          <p:cNvSpPr>
            <a:spLocks xmlns:a="http://schemas.openxmlformats.org/drawingml/2006/main" noGrp="1"/>
          </p:cNvSpPr>
          <p:nvPr/>
        </p:nvSpPr>
        <p:spPr>
          <a:xfrm xmlns:a="http://schemas.openxmlformats.org/drawingml/2006/main">
            <a:off x="895350" y="37147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A clear next step helps.</a:t>
            </a:r>
          </a:p>
        </p:txBody>
      </p:sp>
      <p:sp>
        <p:nvSpPr>
          <p:cNvPr id="9" name="">
            <a:extLst xmlns:a="http://schemas.openxmlformats.org/drawingml/2006/main">
              <a:ext uri="{FF2B5EF4-FFF2-40B4-BE49-F238E27FC236}">
                <a16:creationId xmlns:a16="http://schemas.microsoft.com/office/drawing/2014/main" id="{E0CFEFBE-17C3-45E1-B592-B9DBCE53F78F}"/>
              </a:ext>
            </a:extLst>
          </p:cNvPr>
          <p:cNvSpPr>
            <a:spLocks xmlns:a="http://schemas.openxmlformats.org/drawingml/2006/main" noGrp="1"/>
          </p:cNvSpPr>
          <p:nvPr/>
        </p:nvSpPr>
        <p:spPr>
          <a:xfrm xmlns:a="http://schemas.openxmlformats.org/drawingml/2006/main">
            <a:off x="4762500" y="2019300"/>
            <a:ext cx="6667500" cy="21336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10" name="">
            <a:extLst xmlns:a="http://schemas.openxmlformats.org/drawingml/2006/main">
              <a:ext uri="{FF2B5EF4-FFF2-40B4-BE49-F238E27FC236}">
                <a16:creationId xmlns:a16="http://schemas.microsoft.com/office/drawing/2014/main" id="{6C973A19-1B40-418D-82DC-2CFEA3B9E47F}"/>
              </a:ext>
            </a:extLst>
          </p:cNvPr>
          <p:cNvSpPr>
            <a:spLocks xmlns:a="http://schemas.openxmlformats.org/drawingml/2006/main" noGrp="1"/>
          </p:cNvSpPr>
          <p:nvPr/>
        </p:nvSpPr>
        <p:spPr>
          <a:xfrm xmlns:a="http://schemas.openxmlformats.org/drawingml/2006/main">
            <a:off x="4991100" y="21907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55CA"/>
                </a:solidFill>
                <a:latin typeface="Helvetica Neue"/>
                <a:ea typeface="Helvetica Neue"/>
                <a:cs typeface="Helvetica Neue"/>
              </a:defRPr>
            </a:defPPr>
          </a:lstStyle>
          <a:p xmlns:a="http://schemas.openxmlformats.org/drawingml/2006/main">
            <a:pPr>
              <a:defRPr sz="1350" b="0">
                <a:solidFill>
                  <a:srgbClr val="3E55CA"/>
                </a:solidFill>
                <a:latin typeface="Helvetica Neue"/>
                <a:ea typeface="Helvetica Neue"/>
                <a:cs typeface="Helvetica Neue"/>
              </a:defRPr>
            </a:pPr>
            <a:r>
              <a:rPr sz="1350" b="0">
                <a:solidFill>
                  <a:srgbClr val="3E55CA"/>
                </a:solidFill>
                <a:latin typeface="Helvetica Neue"/>
                <a:ea typeface="Helvetica Neue"/>
                <a:cs typeface="Helvetica Neue"/>
              </a:rPr>
              <a:t>AFTER / YOUR BUSINESS BRIEF</a:t>
            </a:r>
          </a:p>
        </p:txBody>
      </p:sp>
      <p:sp>
        <p:nvSpPr>
          <p:cNvPr id="11" name="">
            <a:extLst xmlns:a="http://schemas.openxmlformats.org/drawingml/2006/main">
              <a:ext uri="{FF2B5EF4-FFF2-40B4-BE49-F238E27FC236}">
                <a16:creationId xmlns:a16="http://schemas.microsoft.com/office/drawing/2014/main" id="{B71D43DA-6D8D-48B6-A388-96236107872B}"/>
              </a:ext>
            </a:extLst>
          </p:cNvPr>
          <p:cNvSpPr>
            <a:spLocks xmlns:a="http://schemas.openxmlformats.org/drawingml/2006/main" noGrp="1"/>
          </p:cNvSpPr>
          <p:nvPr/>
        </p:nvSpPr>
        <p:spPr>
          <a:xfrm xmlns:a="http://schemas.openxmlformats.org/drawingml/2006/main">
            <a:off x="4991100" y="2571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1318"/>
                </a:solidFill>
                <a:latin typeface="Helvetica Neue"/>
                <a:ea typeface="Helvetica Neue"/>
                <a:cs typeface="Helvetica Neue"/>
              </a:defRPr>
            </a:defPPr>
          </a:lstStyle>
          <a:p xmlns:a="http://schemas.openxmlformats.org/drawingml/2006/main">
            <a:pP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 specific customer. A clear offer.</a:t>
            </a:r>
          </a:p>
        </p:txBody>
      </p:sp>
      <p:sp>
        <p:nvSpPr>
          <p:cNvPr id="12" name="">
            <a:extLst xmlns:a="http://schemas.openxmlformats.org/drawingml/2006/main">
              <a:ext uri="{FF2B5EF4-FFF2-40B4-BE49-F238E27FC236}">
                <a16:creationId xmlns:a16="http://schemas.microsoft.com/office/drawing/2014/main" id="{25FB460B-BD7C-4C41-8174-02FF4D948E79}"/>
              </a:ext>
            </a:extLst>
          </p:cNvPr>
          <p:cNvSpPr>
            <a:spLocks xmlns:a="http://schemas.openxmlformats.org/drawingml/2006/main" noGrp="1"/>
          </p:cNvSpPr>
          <p:nvPr/>
        </p:nvSpPr>
        <p:spPr>
          <a:xfrm xmlns:a="http://schemas.openxmlformats.org/drawingml/2006/main">
            <a:off x="4991100" y="31432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92037"/>
                </a:solidFill>
                <a:latin typeface="Helvetica Neue"/>
                <a:ea typeface="Helvetica Neue"/>
                <a:cs typeface="Helvetica Neue"/>
              </a:defRPr>
            </a:defPPr>
          </a:lstStyle>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Your customer: who needs your help?</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Your offer: what do you sell, and where?</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Your next step: call, email, or book?</a:t>
            </a:r>
          </a:p>
        </p:txBody>
      </p:sp>
      <p:sp>
        <p:nvSpPr>
          <p:cNvPr id="13" name="">
            <a:extLst xmlns:a="http://schemas.openxmlformats.org/drawingml/2006/main">
              <a:ext uri="{FF2B5EF4-FFF2-40B4-BE49-F238E27FC236}">
                <a16:creationId xmlns:a16="http://schemas.microsoft.com/office/drawing/2014/main" id="{8A402795-BE49-407A-A8C1-676FD1F399F7}"/>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tell AI about your business</a:t>
            </a:r>
          </a:p>
        </p:txBody>
      </p:sp>
      <p:sp>
        <p:nvSpPr>
          <p:cNvPr id="14" name="">
            <a:extLst xmlns:a="http://schemas.openxmlformats.org/drawingml/2006/main">
              <a:ext uri="{FF2B5EF4-FFF2-40B4-BE49-F238E27FC236}">
                <a16:creationId xmlns:a16="http://schemas.microsoft.com/office/drawing/2014/main" id="{2F9E83DA-315E-429C-B63A-A17807362CD7}"/>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First ask whether I have a website or business document to share. If I do, use it to infer my business name, customer, offer, location, and contact method. Confirm your summary with me and ask only for missing details. If I have neither, ask those questions one at a time. Do not invent facts. Save the brief as PROJECT-BRIEF.md.</a:t>
            </a:r>
          </a:p>
        </p:txBody>
      </p:sp>
    </p:spTree>
    <p:extLst>
      <p:ext uri="{BB962C8B-B14F-4D97-AF65-F5344CB8AC3E}">
        <p14:creationId xmlns:p14="http://schemas.microsoft.com/office/powerpoint/2010/main" val="548678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26E1D5-7842-42F4-9AA3-D8493BB3A193}"/>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Choose your Claude model</a:t>
            </a:r>
          </a:p>
        </p:txBody>
      </p:sp>
      <p:sp>
        <p:nvSpPr>
          <p:cNvPr id="2" name="">
            <a:extLst xmlns:a="http://schemas.openxmlformats.org/drawingml/2006/main">
              <a:ext uri="{FF2B5EF4-FFF2-40B4-BE49-F238E27FC236}">
                <a16:creationId xmlns:a16="http://schemas.microsoft.com/office/drawing/2014/main" id="{3DECBD36-FAD2-42AE-9B6B-00A0748914E5}"/>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86E074BF-86DE-4185-96C6-84355A14F3F7}"/>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C02B531-92CC-46F3-B65B-9B0A89234F24}"/>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Start with Sonnet and Medium effort.</a:t>
            </a:r>
          </a:p>
        </p:txBody>
      </p:sp>
      <p:sp>
        <p:nvSpPr>
          <p:cNvPr id="5" name="">
            <a:extLst xmlns:a="http://schemas.openxmlformats.org/drawingml/2006/main">
              <a:ext uri="{FF2B5EF4-FFF2-40B4-BE49-F238E27FC236}">
                <a16:creationId xmlns:a16="http://schemas.microsoft.com/office/drawing/2014/main" id="{3BD4EBE0-D892-4B45-9196-027B1108FD7B}"/>
              </a:ext>
            </a:extLst>
          </p:cNvPr>
          <p:cNvSpPr>
            <a:spLocks xmlns:a="http://schemas.openxmlformats.org/drawingml/2006/main" noGrp="1"/>
          </p:cNvSpPr>
          <p:nvPr/>
        </p:nvSpPr>
        <p:spPr>
          <a:xfrm xmlns:a="http://schemas.openxmlformats.org/drawingml/2006/main">
            <a:off x="666750" y="2019300"/>
            <a:ext cx="5238750" cy="2114550"/>
          </a:xfrm>
          <a:prstGeom xmlns:a="http://schemas.openxmlformats.org/drawingml/2006/main" prst="rect">
            <a:avLst/>
          </a:prstGeom>
          <a:solidFill xmlns:a="http://schemas.openxmlformats.org/drawingml/2006/main">
            <a:srgbClr val="111318"/>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B0E5C28D-BBE1-4062-8460-256F0B34911F}"/>
              </a:ext>
            </a:extLst>
          </p:cNvPr>
          <p:cNvSpPr>
            <a:spLocks xmlns:a="http://schemas.openxmlformats.org/drawingml/2006/main" noGrp="1"/>
          </p:cNvSpPr>
          <p:nvPr/>
        </p:nvSpPr>
        <p:spPr>
          <a:xfrm xmlns:a="http://schemas.openxmlformats.org/drawingml/2006/main">
            <a:off x="895350" y="2209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9C7FF"/>
                </a:solidFill>
                <a:latin typeface="Helvetica Neue"/>
                <a:ea typeface="Helvetica Neue"/>
                <a:cs typeface="Helvetica Neue"/>
              </a:defRPr>
            </a:defPPr>
          </a:lstStyle>
          <a:p xmlns:a="http://schemas.openxmlformats.org/drawingml/2006/main">
            <a:pPr>
              <a:defRPr sz="1350" b="0">
                <a:solidFill>
                  <a:srgbClr val="B9C7FF"/>
                </a:solidFill>
                <a:latin typeface="Helvetica Neue"/>
                <a:ea typeface="Helvetica Neue"/>
                <a:cs typeface="Helvetica Neue"/>
              </a:defRPr>
            </a:pPr>
            <a:r>
              <a:rPr sz="1350" b="0">
                <a:solidFill>
                  <a:srgbClr val="B9C7FF"/>
                </a:solidFill>
                <a:latin typeface="Helvetica Neue"/>
                <a:ea typeface="Helvetica Neue"/>
                <a:cs typeface="Helvetica Neue"/>
              </a:rPr>
              <a:t>BUILD THE FIRST VERSION</a:t>
            </a:r>
          </a:p>
        </p:txBody>
      </p:sp>
      <p:sp>
        <p:nvSpPr>
          <p:cNvPr id="7" name="">
            <a:extLst xmlns:a="http://schemas.openxmlformats.org/drawingml/2006/main">
              <a:ext uri="{FF2B5EF4-FFF2-40B4-BE49-F238E27FC236}">
                <a16:creationId xmlns:a16="http://schemas.microsoft.com/office/drawing/2014/main" id="{4B178D2E-9298-482A-BFCF-FBE5821844A1}"/>
              </a:ext>
            </a:extLst>
          </p:cNvPr>
          <p:cNvSpPr>
            <a:spLocks xmlns:a="http://schemas.openxmlformats.org/drawingml/2006/main" noGrp="1"/>
          </p:cNvSpPr>
          <p:nvPr/>
        </p:nvSpPr>
        <p:spPr>
          <a:xfrm xmlns:a="http://schemas.openxmlformats.org/drawingml/2006/main">
            <a:off x="895350" y="2590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FFFFF"/>
                </a:solidFill>
                <a:latin typeface="Helvetica Neue"/>
                <a:ea typeface="Helvetica Neue"/>
                <a:cs typeface="Helvetica Neue"/>
              </a:defRPr>
            </a:def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Sonnet / Medium</a:t>
            </a:r>
          </a:p>
        </p:txBody>
      </p:sp>
      <p:sp>
        <p:nvSpPr>
          <p:cNvPr id="8" name="">
            <a:extLst xmlns:a="http://schemas.openxmlformats.org/drawingml/2006/main">
              <a:ext uri="{FF2B5EF4-FFF2-40B4-BE49-F238E27FC236}">
                <a16:creationId xmlns:a16="http://schemas.microsoft.com/office/drawing/2014/main" id="{1A4F91B8-F8FF-4761-9204-37405E9FEB95}"/>
              </a:ext>
            </a:extLst>
          </p:cNvPr>
          <p:cNvSpPr>
            <a:spLocks xmlns:a="http://schemas.openxmlformats.org/drawingml/2006/main" noGrp="1"/>
          </p:cNvSpPr>
          <p:nvPr/>
        </p:nvSpPr>
        <p:spPr>
          <a:xfrm xmlns:a="http://schemas.openxmlformats.org/drawingml/2006/main">
            <a:off x="895350" y="3190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Helvetica Neue"/>
                <a:ea typeface="Helvetica Neue"/>
                <a:cs typeface="Helvetica Neue"/>
              </a:defRPr>
            </a:defPPr>
          </a:lstStyle>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Build your page and make small changes.</a:t>
            </a:r>
          </a:p>
        </p:txBody>
      </p:sp>
      <p:sp>
        <p:nvSpPr>
          <p:cNvPr id="9" name="">
            <a:extLst xmlns:a="http://schemas.openxmlformats.org/drawingml/2006/main">
              <a:ext uri="{FF2B5EF4-FFF2-40B4-BE49-F238E27FC236}">
                <a16:creationId xmlns:a16="http://schemas.microsoft.com/office/drawing/2014/main" id="{22A79FB3-E70C-4065-A9A3-0B7A34AFFBFE}"/>
              </a:ext>
            </a:extLst>
          </p:cNvPr>
          <p:cNvSpPr>
            <a:spLocks xmlns:a="http://schemas.openxmlformats.org/drawingml/2006/main" noGrp="1"/>
          </p:cNvSpPr>
          <p:nvPr/>
        </p:nvSpPr>
        <p:spPr>
          <a:xfrm xmlns:a="http://schemas.openxmlformats.org/drawingml/2006/main">
            <a:off x="6143625" y="2019300"/>
            <a:ext cx="5238750" cy="2114550"/>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10" name="">
            <a:extLst xmlns:a="http://schemas.openxmlformats.org/drawingml/2006/main">
              <a:ext uri="{FF2B5EF4-FFF2-40B4-BE49-F238E27FC236}">
                <a16:creationId xmlns:a16="http://schemas.microsoft.com/office/drawing/2014/main" id="{149BEBA8-8B8A-47B2-975D-60186F5F3FBB}"/>
              </a:ext>
            </a:extLst>
          </p:cNvPr>
          <p:cNvSpPr>
            <a:spLocks xmlns:a="http://schemas.openxmlformats.org/drawingml/2006/main" noGrp="1"/>
          </p:cNvSpPr>
          <p:nvPr/>
        </p:nvSpPr>
        <p:spPr>
          <a:xfrm xmlns:a="http://schemas.openxmlformats.org/drawingml/2006/main">
            <a:off x="6372225" y="2209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3E55CA"/>
                </a:solidFill>
                <a:latin typeface="Helvetica Neue"/>
                <a:ea typeface="Helvetica Neue"/>
                <a:cs typeface="Helvetica Neue"/>
              </a:defRPr>
            </a:defPPr>
          </a:lstStyle>
          <a:p xmlns:a="http://schemas.openxmlformats.org/drawingml/2006/main">
            <a:pPr>
              <a:defRPr sz="1350" b="0">
                <a:solidFill>
                  <a:srgbClr val="3E55CA"/>
                </a:solidFill>
                <a:latin typeface="Helvetica Neue"/>
                <a:ea typeface="Helvetica Neue"/>
                <a:cs typeface="Helvetica Neue"/>
              </a:defRPr>
            </a:pPr>
            <a:r>
              <a:rPr sz="1350" b="0">
                <a:solidFill>
                  <a:srgbClr val="3E55CA"/>
                </a:solidFill>
                <a:latin typeface="Helvetica Neue"/>
                <a:ea typeface="Helvetica Neue"/>
                <a:cs typeface="Helvetica Neue"/>
              </a:rPr>
              <a:t>REVIEW A HARDER PROBLEM</a:t>
            </a:r>
          </a:p>
        </p:txBody>
      </p:sp>
      <p:sp>
        <p:nvSpPr>
          <p:cNvPr id="11" name="">
            <a:extLst xmlns:a="http://schemas.openxmlformats.org/drawingml/2006/main">
              <a:ext uri="{FF2B5EF4-FFF2-40B4-BE49-F238E27FC236}">
                <a16:creationId xmlns:a16="http://schemas.microsoft.com/office/drawing/2014/main" id="{EB9F7D66-FFB6-4F2B-B80B-7BB9FB2EEB72}"/>
              </a:ext>
            </a:extLst>
          </p:cNvPr>
          <p:cNvSpPr>
            <a:spLocks xmlns:a="http://schemas.openxmlformats.org/drawingml/2006/main" noGrp="1"/>
          </p:cNvSpPr>
          <p:nvPr/>
        </p:nvSpPr>
        <p:spPr>
          <a:xfrm xmlns:a="http://schemas.openxmlformats.org/drawingml/2006/main">
            <a:off x="6372225" y="2590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11318"/>
                </a:solidFill>
                <a:latin typeface="Helvetica Neue"/>
                <a:ea typeface="Helvetica Neue"/>
                <a:cs typeface="Helvetica Neue"/>
              </a:defRPr>
            </a:defPPr>
          </a:lstStyle>
          <a:p xmlns:a="http://schemas.openxmlformats.org/drawingml/2006/main">
            <a:pPr>
              <a:defRPr sz="2700" b="1">
                <a:solidFill>
                  <a:srgbClr val="111318"/>
                </a:solidFill>
                <a:latin typeface="Helvetica Neue"/>
                <a:ea typeface="Helvetica Neue"/>
                <a:cs typeface="Helvetica Neue"/>
              </a:defRPr>
            </a:pPr>
            <a:r>
              <a:rPr sz="2700" b="1">
                <a:solidFill>
                  <a:srgbClr val="111318"/>
                </a:solidFill>
                <a:latin typeface="Helvetica Neue"/>
                <a:ea typeface="Helvetica Neue"/>
                <a:cs typeface="Helvetica Neue"/>
              </a:rPr>
              <a:t>Opus / Medium</a:t>
            </a:r>
          </a:p>
        </p:txBody>
      </p:sp>
      <p:sp>
        <p:nvSpPr>
          <p:cNvPr id="12" name="">
            <a:extLst xmlns:a="http://schemas.openxmlformats.org/drawingml/2006/main">
              <a:ext uri="{FF2B5EF4-FFF2-40B4-BE49-F238E27FC236}">
                <a16:creationId xmlns:a16="http://schemas.microsoft.com/office/drawing/2014/main" id="{7BB11982-652D-4770-9B86-5B545F23AACD}"/>
              </a:ext>
            </a:extLst>
          </p:cNvPr>
          <p:cNvSpPr>
            <a:spLocks xmlns:a="http://schemas.openxmlformats.org/drawingml/2006/main" noGrp="1"/>
          </p:cNvSpPr>
          <p:nvPr/>
        </p:nvSpPr>
        <p:spPr>
          <a:xfrm xmlns:a="http://schemas.openxmlformats.org/drawingml/2006/main">
            <a:off x="6372225" y="31908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11318"/>
                </a:solidFill>
                <a:latin typeface="Helvetica Neue"/>
                <a:ea typeface="Helvetica Neue"/>
                <a:cs typeface="Helvetica Neue"/>
              </a:defRPr>
            </a:defPPr>
          </a:lstStyle>
          <a:p xmlns:a="http://schemas.openxmlformats.org/drawingml/2006/main">
            <a:pPr>
              <a:defRPr sz="1800" b="0">
                <a:solidFill>
                  <a:srgbClr val="111318"/>
                </a:solidFill>
                <a:latin typeface="Helvetica Neue"/>
                <a:ea typeface="Helvetica Neue"/>
                <a:cs typeface="Helvetica Neue"/>
              </a:defRPr>
            </a:pPr>
            <a:r>
              <a:rPr sz="1800" b="0">
                <a:solidFill>
                  <a:srgbClr val="111318"/>
                </a:solidFill>
                <a:latin typeface="Helvetica Neue"/>
                <a:ea typeface="Helvetica Neue"/>
                <a:cs typeface="Helvetica Neue"/>
              </a:rPr>
              <a:t>Help with a difficult design or fix.</a:t>
            </a:r>
          </a:p>
        </p:txBody>
      </p:sp>
    </p:spTree>
    <p:extLst>
      <p:ext uri="{BB962C8B-B14F-4D97-AF65-F5344CB8AC3E}">
        <p14:creationId xmlns:p14="http://schemas.microsoft.com/office/powerpoint/2010/main" val="4057895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8A0574-E821-45A7-9C06-BDBB09785DEC}"/>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Get found in search and AI answers</a:t>
            </a:r>
          </a:p>
        </p:txBody>
      </p:sp>
      <p:sp>
        <p:nvSpPr>
          <p:cNvPr id="2" name="">
            <a:extLst xmlns:a="http://schemas.openxmlformats.org/drawingml/2006/main">
              <a:ext uri="{FF2B5EF4-FFF2-40B4-BE49-F238E27FC236}">
                <a16:creationId xmlns:a16="http://schemas.microsoft.com/office/drawing/2014/main" id="{E24EADEC-BE09-4A94-84C9-4963E5CDDD78}"/>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78F684FF-A9FE-476D-87C4-69E493A1F56D}"/>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035C153A-8559-4636-869B-78383D6A792B}"/>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Workshop highlight: SEO + AEO/GEO help customers discover your business.</a:t>
            </a:r>
          </a:p>
        </p:txBody>
      </p:sp>
      <p:sp>
        <p:nvSpPr>
          <p:cNvPr id="5" name="">
            <a:extLst xmlns:a="http://schemas.openxmlformats.org/drawingml/2006/main">
              <a:ext uri="{FF2B5EF4-FFF2-40B4-BE49-F238E27FC236}">
                <a16:creationId xmlns:a16="http://schemas.microsoft.com/office/drawing/2014/main" id="{CC6C3060-A467-4926-ABFC-9EB4BE71FD5C}"/>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111318"/>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93188661-E16A-46BD-8975-3FF7344FF2A2}"/>
              </a:ext>
            </a:extLst>
          </p:cNvPr>
          <p:cNvSpPr>
            <a:spLocks xmlns:a="http://schemas.openxmlformats.org/drawingml/2006/main" noGrp="1"/>
          </p:cNvSpPr>
          <p:nvPr/>
        </p:nvSpPr>
        <p:spPr>
          <a:xfrm xmlns:a="http://schemas.openxmlformats.org/drawingml/2006/main">
            <a:off x="914400" y="22860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9C7FF"/>
                </a:solidFill>
                <a:latin typeface="Helvetica Neue"/>
                <a:ea typeface="Helvetica Neue"/>
                <a:cs typeface="Helvetica Neue"/>
              </a:defRPr>
            </a:defPPr>
          </a:lstStyle>
          <a:p xmlns:a="http://schemas.openxmlformats.org/drawingml/2006/main">
            <a:pPr>
              <a:defRPr sz="1275" b="0">
                <a:solidFill>
                  <a:srgbClr val="B9C7FF"/>
                </a:solidFill>
                <a:latin typeface="Helvetica Neue"/>
                <a:ea typeface="Helvetica Neue"/>
                <a:cs typeface="Helvetica Neue"/>
              </a:defRPr>
            </a:pPr>
            <a:r>
              <a:rPr sz="1275" b="0">
                <a:solidFill>
                  <a:srgbClr val="B9C7FF"/>
                </a:solidFill>
                <a:latin typeface="Helvetica Neue"/>
                <a:ea typeface="Helvetica Neue"/>
                <a:cs typeface="Helvetica Neue"/>
              </a:rPr>
              <a:t>WORKSHOP HIGHLIGHT</a:t>
            </a:r>
          </a:p>
        </p:txBody>
      </p:sp>
      <p:sp>
        <p:nvSpPr>
          <p:cNvPr id="7" name="">
            <a:extLst xmlns:a="http://schemas.openxmlformats.org/drawingml/2006/main">
              <a:ext uri="{FF2B5EF4-FFF2-40B4-BE49-F238E27FC236}">
                <a16:creationId xmlns:a16="http://schemas.microsoft.com/office/drawing/2014/main" id="{E4A1D29E-3E4B-48F2-B71E-4EC87E5A411B}"/>
              </a:ext>
            </a:extLst>
          </p:cNvPr>
          <p:cNvSpPr>
            <a:spLocks xmlns:a="http://schemas.openxmlformats.org/drawingml/2006/main" noGrp="1"/>
          </p:cNvSpPr>
          <p:nvPr/>
        </p:nvSpPr>
        <p:spPr>
          <a:xfrm xmlns:a="http://schemas.openxmlformats.org/drawingml/2006/main">
            <a:off x="914400" y="2771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FFFFFF"/>
                </a:solidFill>
                <a:latin typeface="Helvetica Neue"/>
                <a:ea typeface="Helvetica Neue"/>
                <a:cs typeface="Helvetica Neue"/>
              </a:defRPr>
            </a:defPPr>
          </a:lstStyle>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SEO + AI search</a:t>
            </a:r>
          </a:p>
        </p:txBody>
      </p:sp>
      <p:sp>
        <p:nvSpPr>
          <p:cNvPr id="8" name="">
            <a:extLst xmlns:a="http://schemas.openxmlformats.org/drawingml/2006/main">
              <a:ext uri="{FF2B5EF4-FFF2-40B4-BE49-F238E27FC236}">
                <a16:creationId xmlns:a16="http://schemas.microsoft.com/office/drawing/2014/main" id="{0CF5EB9A-6B79-430F-8248-415AC00406C5}"/>
              </a:ext>
            </a:extLst>
          </p:cNvPr>
          <p:cNvSpPr>
            <a:spLocks xmlns:a="http://schemas.openxmlformats.org/drawingml/2006/main" noGrp="1"/>
          </p:cNvSpPr>
          <p:nvPr/>
        </p:nvSpPr>
        <p:spPr>
          <a:xfrm xmlns:a="http://schemas.openxmlformats.org/drawingml/2006/main">
            <a:off x="914400" y="35623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Extra instructions.</a:t>
            </a:r>
          </a:p>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One task at a time.</a:t>
            </a:r>
          </a:p>
        </p:txBody>
      </p:sp>
      <p:sp>
        <p:nvSpPr>
          <p:cNvPr id="9" name="">
            <a:extLst xmlns:a="http://schemas.openxmlformats.org/drawingml/2006/main">
              <a:ext uri="{FF2B5EF4-FFF2-40B4-BE49-F238E27FC236}">
                <a16:creationId xmlns:a16="http://schemas.microsoft.com/office/drawing/2014/main" id="{C5B01927-4597-4755-81E6-BC57E45AD76C}"/>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0" name="">
            <a:extLst xmlns:a="http://schemas.openxmlformats.org/drawingml/2006/main">
              <a:ext uri="{FF2B5EF4-FFF2-40B4-BE49-F238E27FC236}">
                <a16:creationId xmlns:a16="http://schemas.microsoft.com/office/drawing/2014/main" id="{9497DE72-3E21-4E94-92C6-019BF84E0A64}"/>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70C116BE-A9AE-493B-A728-5D6B19E31016}"/>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Design + writing</a:t>
            </a:r>
          </a:p>
        </p:txBody>
      </p:sp>
      <p:sp>
        <p:nvSpPr>
          <p:cNvPr id="12" name="">
            <a:extLst xmlns:a="http://schemas.openxmlformats.org/drawingml/2006/main">
              <a:ext uri="{FF2B5EF4-FFF2-40B4-BE49-F238E27FC236}">
                <a16:creationId xmlns:a16="http://schemas.microsoft.com/office/drawing/2014/main" id="{B2616A54-ABC1-41EC-91D9-7D41805E906F}"/>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frontend-design + copywriting: a clear, useful page.</a:t>
            </a:r>
          </a:p>
        </p:txBody>
      </p:sp>
      <p:sp>
        <p:nvSpPr>
          <p:cNvPr id="13" name="">
            <a:extLst xmlns:a="http://schemas.openxmlformats.org/drawingml/2006/main">
              <a:ext uri="{FF2B5EF4-FFF2-40B4-BE49-F238E27FC236}">
                <a16:creationId xmlns:a16="http://schemas.microsoft.com/office/drawing/2014/main" id="{A074BDE9-16EA-4772-9E43-DE3094D39232}"/>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4" name="">
            <a:extLst xmlns:a="http://schemas.openxmlformats.org/drawingml/2006/main">
              <a:ext uri="{FF2B5EF4-FFF2-40B4-BE49-F238E27FC236}">
                <a16:creationId xmlns:a16="http://schemas.microsoft.com/office/drawing/2014/main" id="{A16E3C11-DAD4-4F04-BDED-AEE556C2BAD0}"/>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6C0D62B6-C30D-4318-B788-1497A82C5ED5}"/>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SEO · search engines</a:t>
            </a:r>
          </a:p>
        </p:txBody>
      </p:sp>
      <p:sp>
        <p:nvSpPr>
          <p:cNvPr id="16" name="">
            <a:extLst xmlns:a="http://schemas.openxmlformats.org/drawingml/2006/main">
              <a:ext uri="{FF2B5EF4-FFF2-40B4-BE49-F238E27FC236}">
                <a16:creationId xmlns:a16="http://schemas.microsoft.com/office/drawing/2014/main" id="{B439BDDE-16ED-4C54-9101-A4D9FFAD40F7}"/>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seo-audit: find and fix search issues.</a:t>
            </a:r>
          </a:p>
        </p:txBody>
      </p:sp>
      <p:sp>
        <p:nvSpPr>
          <p:cNvPr id="17" name="">
            <a:extLst xmlns:a="http://schemas.openxmlformats.org/drawingml/2006/main">
              <a:ext uri="{FF2B5EF4-FFF2-40B4-BE49-F238E27FC236}">
                <a16:creationId xmlns:a16="http://schemas.microsoft.com/office/drawing/2014/main" id="{6A64F712-9E82-47C7-9B58-6999F36A7642}"/>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8" name="">
            <a:extLst xmlns:a="http://schemas.openxmlformats.org/drawingml/2006/main">
              <a:ext uri="{FF2B5EF4-FFF2-40B4-BE49-F238E27FC236}">
                <a16:creationId xmlns:a16="http://schemas.microsoft.com/office/drawing/2014/main" id="{035E50A7-BAEA-4467-A665-3E72433D82BF}"/>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665A6087-A0F9-4F76-BB49-65D9D760100E}"/>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AEO/GEO · AI answers</a:t>
            </a:r>
          </a:p>
        </p:txBody>
      </p:sp>
      <p:sp>
        <p:nvSpPr>
          <p:cNvPr id="20" name="">
            <a:extLst xmlns:a="http://schemas.openxmlformats.org/drawingml/2006/main">
              <a:ext uri="{FF2B5EF4-FFF2-40B4-BE49-F238E27FC236}">
                <a16:creationId xmlns:a16="http://schemas.microsoft.com/office/drawing/2014/main" id="{7A0AD1D5-E138-4CE0-AB3F-91FBF0280DF8}"/>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ai-seo: make your content clear for AI search.</a:t>
            </a:r>
          </a:p>
        </p:txBody>
      </p:sp>
    </p:spTree>
    <p:extLst>
      <p:ext uri="{BB962C8B-B14F-4D97-AF65-F5344CB8AC3E}">
        <p14:creationId xmlns:p14="http://schemas.microsoft.com/office/powerpoint/2010/main" val="13139312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7920349-B029-4246-B9C2-8E29053DC74B}"/>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Set up the stack and skills</a:t>
            </a:r>
          </a:p>
        </p:txBody>
      </p:sp>
      <p:sp>
        <p:nvSpPr>
          <p:cNvPr id="2" name="">
            <a:extLst xmlns:a="http://schemas.openxmlformats.org/drawingml/2006/main">
              <a:ext uri="{FF2B5EF4-FFF2-40B4-BE49-F238E27FC236}">
                <a16:creationId xmlns:a16="http://schemas.microsoft.com/office/drawing/2014/main" id="{88C4FD9A-28F0-4EA4-9D72-083D9797EDB7}"/>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34A798B8-2E6A-4840-8093-7BEF47E41CE2}"/>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6EA5558-420B-43AF-9A36-5C619D2E3ABD}"/>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Copy this into Claude Code. Let it guide the setup.</a:t>
            </a:r>
          </a:p>
        </p:txBody>
      </p:sp>
      <p:sp>
        <p:nvSpPr>
          <p:cNvPr id="5" name="">
            <a:extLst xmlns:a="http://schemas.openxmlformats.org/drawingml/2006/main">
              <a:ext uri="{FF2B5EF4-FFF2-40B4-BE49-F238E27FC236}">
                <a16:creationId xmlns:a16="http://schemas.microsoft.com/office/drawing/2014/main" id="{573C90A1-232E-4AFC-9410-8B8A9CEF881C}"/>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25556BEC-73C5-41E7-B7D2-751CD1F765DD}"/>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EFD56DC4-4A26-4649-86C0-B67FE9A3FB82}"/>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workshop-site / local project</a:t>
            </a:r>
          </a:p>
        </p:txBody>
      </p:sp>
      <p:sp>
        <p:nvSpPr>
          <p:cNvPr id="8" name="">
            <a:extLst xmlns:a="http://schemas.openxmlformats.org/drawingml/2006/main">
              <a:ext uri="{FF2B5EF4-FFF2-40B4-BE49-F238E27FC236}">
                <a16:creationId xmlns:a16="http://schemas.microsoft.com/office/drawing/2014/main" id="{EABC05D8-D107-49C4-82AC-CFFFA8AF597A}"/>
              </a:ext>
            </a:extLst>
          </p:cNvPr>
          <p:cNvSpPr>
            <a:spLocks xmlns:a="http://schemas.openxmlformats.org/drawingml/2006/main" noGrp="1"/>
          </p:cNvSpPr>
          <p:nvPr/>
        </p:nvSpPr>
        <p:spPr>
          <a:xfrm xmlns:a="http://schemas.openxmlformats.org/drawingml/2006/main">
            <a:off x="666750" y="2286000"/>
            <a:ext cx="3857625" cy="1857375"/>
          </a:xfrm>
          <a:prstGeom xmlns:a="http://schemas.openxmlformats.org/drawingml/2006/main" prst="rect">
            <a:avLst/>
          </a:prstGeom>
          <a:solidFill xmlns:a="http://schemas.openxmlformats.org/drawingml/2006/main">
            <a:srgbClr val="111318"/>
          </a:solidFill>
          <a:ln xmlns:a="http://schemas.openxmlformats.org/drawingml/2006/main" w="9525">
            <a:solidFill>
              <a:srgbClr val="D9DCE2"/>
            </a:solidFill>
          </a:ln>
        </p:spPr>
      </p:sp>
      <p:sp>
        <p:nvSpPr>
          <p:cNvPr id="9" name="">
            <a:extLst xmlns:a="http://schemas.openxmlformats.org/drawingml/2006/main">
              <a:ext uri="{FF2B5EF4-FFF2-40B4-BE49-F238E27FC236}">
                <a16:creationId xmlns:a16="http://schemas.microsoft.com/office/drawing/2014/main" id="{64ACCD9F-9C6D-40CB-BEC7-3636E80F4FEF}"/>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9C7FF"/>
                </a:solidFill>
                <a:latin typeface="Helvetica Neue"/>
                <a:ea typeface="Helvetica Neue"/>
                <a:cs typeface="Helvetica Neue"/>
              </a:defRPr>
            </a:defPPr>
          </a:lstStyle>
          <a:p xmlns:a="http://schemas.openxmlformats.org/drawingml/2006/main">
            <a:pPr>
              <a:defRPr sz="1275" b="0">
                <a:solidFill>
                  <a:srgbClr val="B9C7FF"/>
                </a:solidFill>
                <a:latin typeface="Helvetica Neue"/>
                <a:ea typeface="Helvetica Neue"/>
                <a:cs typeface="Helvetica Neue"/>
              </a:defRPr>
            </a:pPr>
            <a:r>
              <a:rPr sz="1275" b="0">
                <a:solidFill>
                  <a:srgbClr val="B9C7FF"/>
                </a:solidFill>
                <a:latin typeface="Helvetica Neue"/>
                <a:ea typeface="Helvetica Neue"/>
                <a:cs typeface="Helvetica Neue"/>
              </a:rPr>
              <a:t>AI GUIDES THE SETUP</a:t>
            </a:r>
          </a:p>
        </p:txBody>
      </p:sp>
      <p:sp>
        <p:nvSpPr>
          <p:cNvPr id="10" name="">
            <a:extLst xmlns:a="http://schemas.openxmlformats.org/drawingml/2006/main">
              <a:ext uri="{FF2B5EF4-FFF2-40B4-BE49-F238E27FC236}">
                <a16:creationId xmlns:a16="http://schemas.microsoft.com/office/drawing/2014/main" id="{8BEC7C1C-2214-471F-99C3-CBF7159DFA90}"/>
              </a:ext>
            </a:extLst>
          </p:cNvPr>
          <p:cNvSpPr>
            <a:spLocks xmlns:a="http://schemas.openxmlformats.org/drawingml/2006/main" noGrp="1"/>
          </p:cNvSpPr>
          <p:nvPr/>
        </p:nvSpPr>
        <p:spPr>
          <a:xfrm xmlns:a="http://schemas.openxmlformats.org/drawingml/2006/main">
            <a:off x="857250" y="2743200"/>
            <a:ext cx="3476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Helvetica Neue"/>
                <a:ea typeface="Helvetica Neue"/>
                <a:cs typeface="Helvetica Neue"/>
              </a:defRPr>
            </a:defPPr>
          </a:lstStyle>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Next.js + skills.</a:t>
            </a:r>
          </a:p>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Ready to build.</a:t>
            </a:r>
          </a:p>
        </p:txBody>
      </p:sp>
      <p:sp>
        <p:nvSpPr>
          <p:cNvPr id="11" name="">
            <a:extLst xmlns:a="http://schemas.openxmlformats.org/drawingml/2006/main">
              <a:ext uri="{FF2B5EF4-FFF2-40B4-BE49-F238E27FC236}">
                <a16:creationId xmlns:a16="http://schemas.microsoft.com/office/drawing/2014/main" id="{2A465EA0-CD84-47C9-9722-FC6449C149E7}"/>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CB980F81-6CCD-42C8-9A2E-89713091AD9A}"/>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30EFE078-9FCC-4004-A6EF-00FF35B65383}"/>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The stack</a:t>
            </a:r>
          </a:p>
        </p:txBody>
      </p:sp>
      <p:sp>
        <p:nvSpPr>
          <p:cNvPr id="14" name="">
            <a:extLst xmlns:a="http://schemas.openxmlformats.org/drawingml/2006/main">
              <a:ext uri="{FF2B5EF4-FFF2-40B4-BE49-F238E27FC236}">
                <a16:creationId xmlns:a16="http://schemas.microsoft.com/office/drawing/2014/main" id="{CA8D740C-EF94-44BB-A292-1AAD331A26A3}"/>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Next.js + TypeScript + Tailwind CSS.</a:t>
            </a:r>
          </a:p>
        </p:txBody>
      </p:sp>
      <p:sp>
        <p:nvSpPr>
          <p:cNvPr id="15" name="">
            <a:extLst xmlns:a="http://schemas.openxmlformats.org/drawingml/2006/main">
              <a:ext uri="{FF2B5EF4-FFF2-40B4-BE49-F238E27FC236}">
                <a16:creationId xmlns:a16="http://schemas.microsoft.com/office/drawing/2014/main" id="{E1905175-0724-403C-A7C3-EFB9379B6C74}"/>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6" name="">
            <a:extLst xmlns:a="http://schemas.openxmlformats.org/drawingml/2006/main">
              <a:ext uri="{FF2B5EF4-FFF2-40B4-BE49-F238E27FC236}">
                <a16:creationId xmlns:a16="http://schemas.microsoft.com/office/drawing/2014/main" id="{CDCD7DE2-0B6F-4839-BAC3-0490F568530C}"/>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D557BAD9-4D21-475B-8D74-CF1BDB625501}"/>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The skills</a:t>
            </a:r>
          </a:p>
        </p:txBody>
      </p:sp>
      <p:sp>
        <p:nvSpPr>
          <p:cNvPr id="18" name="">
            <a:extLst xmlns:a="http://schemas.openxmlformats.org/drawingml/2006/main">
              <a:ext uri="{FF2B5EF4-FFF2-40B4-BE49-F238E27FC236}">
                <a16:creationId xmlns:a16="http://schemas.microsoft.com/office/drawing/2014/main" id="{3F2D496D-DB41-41D0-AFC5-C0DD9D92BA4D}"/>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Design, writing, SEO, AI SEO, and programmatic SEO.</a:t>
            </a:r>
          </a:p>
        </p:txBody>
      </p:sp>
      <p:sp>
        <p:nvSpPr>
          <p:cNvPr id="19" name="">
            <a:extLst xmlns:a="http://schemas.openxmlformats.org/drawingml/2006/main">
              <a:ext uri="{FF2B5EF4-FFF2-40B4-BE49-F238E27FC236}">
                <a16:creationId xmlns:a16="http://schemas.microsoft.com/office/drawing/2014/main" id="{6AE27CC0-E25C-456D-AD76-281B72FA84B0}"/>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0" name="">
            <a:extLst xmlns:a="http://schemas.openxmlformats.org/drawingml/2006/main">
              <a:ext uri="{FF2B5EF4-FFF2-40B4-BE49-F238E27FC236}">
                <a16:creationId xmlns:a16="http://schemas.microsoft.com/office/drawing/2014/main" id="{CA0AF144-0FE4-408D-9F25-277D21B2E2E7}"/>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16BAF746-DB3C-4CD5-8855-0126FA7AE7FC}"/>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The result</a:t>
            </a:r>
          </a:p>
        </p:txBody>
      </p:sp>
      <p:sp>
        <p:nvSpPr>
          <p:cNvPr id="22" name="">
            <a:extLst xmlns:a="http://schemas.openxmlformats.org/drawingml/2006/main">
              <a:ext uri="{FF2B5EF4-FFF2-40B4-BE49-F238E27FC236}">
                <a16:creationId xmlns:a16="http://schemas.microsoft.com/office/drawing/2014/main" id="{3538FF41-62A0-4AE4-9ACC-ADE866673647}"/>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 working website preview, ready to build.</a:t>
            </a:r>
          </a:p>
        </p:txBody>
      </p:sp>
      <p:sp>
        <p:nvSpPr>
          <p:cNvPr id="23" name="">
            <a:extLst xmlns:a="http://schemas.openxmlformats.org/drawingml/2006/main">
              <a:ext uri="{FF2B5EF4-FFF2-40B4-BE49-F238E27FC236}">
                <a16:creationId xmlns:a16="http://schemas.microsoft.com/office/drawing/2014/main" id="{6602ADC5-1D81-46E2-9F17-8DC68254ADA7}"/>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set up your website</a:t>
            </a:r>
          </a:p>
        </p:txBody>
      </p:sp>
      <p:sp>
        <p:nvSpPr>
          <p:cNvPr id="24" name="">
            <a:extLst xmlns:a="http://schemas.openxmlformats.org/drawingml/2006/main">
              <a:ext uri="{FF2B5EF4-FFF2-40B4-BE49-F238E27FC236}">
                <a16:creationId xmlns:a16="http://schemas.microsoft.com/office/drawing/2014/main" id="{7DB436CF-82BE-4CE2-8B83-93EE2E193CEB}"/>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Set up my business website with Next.js, TypeScript, and Tailwind CSS. Install the reviewed design, writing, SEO, AI SEO, and programmatic SEO skills in this project. Guide me one step at a time and show me a working preview.</a:t>
            </a:r>
          </a:p>
        </p:txBody>
      </p:sp>
    </p:spTree>
    <p:extLst>
      <p:ext uri="{BB962C8B-B14F-4D97-AF65-F5344CB8AC3E}">
        <p14:creationId xmlns:p14="http://schemas.microsoft.com/office/powerpoint/2010/main" val="7733304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C6C7E9E-973B-4C3D-A9E4-7B3B1644A8AC}"/>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Build one clear page</a:t>
            </a:r>
          </a:p>
        </p:txBody>
      </p:sp>
      <p:sp>
        <p:nvSpPr>
          <p:cNvPr id="2" name="">
            <a:extLst xmlns:a="http://schemas.openxmlformats.org/drawingml/2006/main">
              <a:ext uri="{FF2B5EF4-FFF2-40B4-BE49-F238E27FC236}">
                <a16:creationId xmlns:a16="http://schemas.microsoft.com/office/drawing/2014/main" id="{8F3246DC-BFE2-45CE-BD7F-099A4BCF5811}"/>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1C74191E-EA0A-4A1F-9F72-88D29A2D76FD}"/>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3212EDE-9194-448A-9B3A-E99D42C2722D}"/>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Choose a design before AI builds it.</a:t>
            </a:r>
          </a:p>
        </p:txBody>
      </p:sp>
      <p:sp>
        <p:nvSpPr>
          <p:cNvPr id="5" name="">
            <a:extLst xmlns:a="http://schemas.openxmlformats.org/drawingml/2006/main">
              <a:ext uri="{FF2B5EF4-FFF2-40B4-BE49-F238E27FC236}">
                <a16:creationId xmlns:a16="http://schemas.microsoft.com/office/drawing/2014/main" id="{6A467545-E45A-4C03-9D3B-AC6E5644EC03}"/>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4F859A9A-13CC-42B7-AF04-5EEF90B55F90}"/>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8DB87CD8-16EB-4640-8FD0-3CE2B1EAA8E6}"/>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E1F68744-9E53-4FD3-BD6E-3968759307AC}"/>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HOUSECLEANING / PHOENIX</a:t>
            </a:r>
          </a:p>
        </p:txBody>
      </p:sp>
      <p:sp>
        <p:nvSpPr>
          <p:cNvPr id="9" name="">
            <a:extLst xmlns:a="http://schemas.openxmlformats.org/drawingml/2006/main">
              <a:ext uri="{FF2B5EF4-FFF2-40B4-BE49-F238E27FC236}">
                <a16:creationId xmlns:a16="http://schemas.microsoft.com/office/drawing/2014/main" id="{8F4F9645-E546-4E7B-941C-9142AD171C64}"/>
              </a:ext>
            </a:extLst>
          </p:cNvPr>
          <p:cNvSpPr>
            <a:spLocks xmlns:a="http://schemas.openxmlformats.org/drawingml/2006/main" noGrp="1"/>
          </p:cNvSpPr>
          <p:nvPr/>
        </p:nvSpPr>
        <p:spPr>
          <a:xfrm xmlns:a="http://schemas.openxmlformats.org/drawingml/2006/main">
            <a:off x="857250" y="2743200"/>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11318"/>
                </a:solidFill>
                <a:latin typeface="Helvetica Neue"/>
                <a:ea typeface="Helvetica Neue"/>
                <a:cs typeface="Helvetica Neue"/>
              </a:defRPr>
            </a:defPPr>
          </a:lstStyle>
          <a:p xmlns:a="http://schemas.openxmlformats.org/drawingml/2006/main">
            <a:pPr>
              <a:defRPr sz="2475" b="1">
                <a:solidFill>
                  <a:srgbClr val="111318"/>
                </a:solidFill>
                <a:latin typeface="Helvetica Neue"/>
                <a:ea typeface="Helvetica Neue"/>
                <a:cs typeface="Helvetica Neue"/>
              </a:defRPr>
            </a:pPr>
            <a:r>
              <a:rPr sz="2475" b="1">
                <a:solidFill>
                  <a:srgbClr val="111318"/>
                </a:solidFill>
                <a:latin typeface="Helvetica Neue"/>
                <a:ea typeface="Helvetica Neue"/>
                <a:cs typeface="Helvetica Neue"/>
              </a:rPr>
              <a:t>A clean home.</a:t>
            </a:r>
          </a:p>
          <a:p xmlns:a="http://schemas.openxmlformats.org/drawingml/2006/main">
            <a:pPr>
              <a:defRPr sz="2475" b="1">
                <a:solidFill>
                  <a:srgbClr val="111318"/>
                </a:solidFill>
                <a:latin typeface="Helvetica Neue"/>
                <a:ea typeface="Helvetica Neue"/>
                <a:cs typeface="Helvetica Neue"/>
              </a:defRPr>
            </a:pPr>
            <a:r>
              <a:rPr sz="2475" b="1">
                <a:solidFill>
                  <a:srgbClr val="111318"/>
                </a:solidFill>
                <a:latin typeface="Helvetica Neue"/>
                <a:ea typeface="Helvetica Neue"/>
                <a:cs typeface="Helvetica Neue"/>
              </a:rPr>
              <a:t>A free weekend.</a:t>
            </a:r>
          </a:p>
        </p:txBody>
      </p:sp>
      <p:sp>
        <p:nvSpPr>
          <p:cNvPr id="10" name="">
            <a:extLst xmlns:a="http://schemas.openxmlformats.org/drawingml/2006/main">
              <a:ext uri="{FF2B5EF4-FFF2-40B4-BE49-F238E27FC236}">
                <a16:creationId xmlns:a16="http://schemas.microsoft.com/office/drawing/2014/main" id="{DBAAAC7C-154E-48E0-ACDB-951AC5D827B1}"/>
              </a:ext>
            </a:extLst>
          </p:cNvPr>
          <p:cNvSpPr>
            <a:spLocks xmlns:a="http://schemas.openxmlformats.org/drawingml/2006/main" noGrp="1"/>
          </p:cNvSpPr>
          <p:nvPr/>
        </p:nvSpPr>
        <p:spPr>
          <a:xfrm xmlns:a="http://schemas.openxmlformats.org/drawingml/2006/main">
            <a:off x="857250" y="3667125"/>
            <a:ext cx="2076450" cy="30480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1" name="">
            <a:extLst xmlns:a="http://schemas.openxmlformats.org/drawingml/2006/main">
              <a:ext uri="{FF2B5EF4-FFF2-40B4-BE49-F238E27FC236}">
                <a16:creationId xmlns:a16="http://schemas.microsoft.com/office/drawing/2014/main" id="{9514FE80-C8E0-4AEC-B5F8-4BD1F55C1ED7}"/>
              </a:ext>
            </a:extLst>
          </p:cNvPr>
          <p:cNvSpPr>
            <a:spLocks xmlns:a="http://schemas.openxmlformats.org/drawingml/2006/main" noGrp="1"/>
          </p:cNvSpPr>
          <p:nvPr/>
        </p:nvSpPr>
        <p:spPr>
          <a:xfrm xmlns:a="http://schemas.openxmlformats.org/drawingml/2006/main">
            <a:off x="971550" y="3714750"/>
            <a:ext cx="1924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FFFFFF"/>
                </a:solidFill>
                <a:latin typeface="Helvetica Neue"/>
                <a:ea typeface="Helvetica Neue"/>
                <a:cs typeface="Helvetica Neue"/>
              </a:defRPr>
            </a:def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availability →</a:t>
            </a:r>
          </a:p>
        </p:txBody>
      </p:sp>
      <p:sp>
        <p:nvSpPr>
          <p:cNvPr id="12" name="">
            <a:extLst xmlns:a="http://schemas.openxmlformats.org/drawingml/2006/main">
              <a:ext uri="{FF2B5EF4-FFF2-40B4-BE49-F238E27FC236}">
                <a16:creationId xmlns:a16="http://schemas.microsoft.com/office/drawing/2014/main" id="{8E2D24C5-07B9-41E7-9171-3C9702D29ED0}"/>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3" name="">
            <a:extLst xmlns:a="http://schemas.openxmlformats.org/drawingml/2006/main">
              <a:ext uri="{FF2B5EF4-FFF2-40B4-BE49-F238E27FC236}">
                <a16:creationId xmlns:a16="http://schemas.microsoft.com/office/drawing/2014/main" id="{08221909-F539-46D1-9C84-68C7CB1E8688}"/>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4" name="">
            <a:extLst xmlns:a="http://schemas.openxmlformats.org/drawingml/2006/main">
              <a:ext uri="{FF2B5EF4-FFF2-40B4-BE49-F238E27FC236}">
                <a16:creationId xmlns:a16="http://schemas.microsoft.com/office/drawing/2014/main" id="{6B6672FB-9451-4A82-B926-3B9467DF7E93}"/>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Your offer</a:t>
            </a:r>
          </a:p>
        </p:txBody>
      </p:sp>
      <p:sp>
        <p:nvSpPr>
          <p:cNvPr id="15" name="">
            <a:extLst xmlns:a="http://schemas.openxmlformats.org/drawingml/2006/main">
              <a:ext uri="{FF2B5EF4-FFF2-40B4-BE49-F238E27FC236}">
                <a16:creationId xmlns:a16="http://schemas.microsoft.com/office/drawing/2014/main" id="{560C21D4-BCBA-43E7-B2CE-87E7A980CF95}"/>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Say what you do and who you help.</a:t>
            </a:r>
          </a:p>
        </p:txBody>
      </p:sp>
      <p:sp>
        <p:nvSpPr>
          <p:cNvPr id="16" name="">
            <a:extLst xmlns:a="http://schemas.openxmlformats.org/drawingml/2006/main">
              <a:ext uri="{FF2B5EF4-FFF2-40B4-BE49-F238E27FC236}">
                <a16:creationId xmlns:a16="http://schemas.microsoft.com/office/drawing/2014/main" id="{217F6635-0810-4639-89BD-70AE4A2FA3A0}"/>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7" name="">
            <a:extLst xmlns:a="http://schemas.openxmlformats.org/drawingml/2006/main">
              <a:ext uri="{FF2B5EF4-FFF2-40B4-BE49-F238E27FC236}">
                <a16:creationId xmlns:a16="http://schemas.microsoft.com/office/drawing/2014/main" id="{7E48D802-EB90-4F98-906E-7B2931D62C82}"/>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8" name="">
            <a:extLst xmlns:a="http://schemas.openxmlformats.org/drawingml/2006/main">
              <a:ext uri="{FF2B5EF4-FFF2-40B4-BE49-F238E27FC236}">
                <a16:creationId xmlns:a16="http://schemas.microsoft.com/office/drawing/2014/main" id="{20A38F44-3C31-4DBB-90F1-90C78D14C2A7}"/>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Real details</a:t>
            </a:r>
          </a:p>
        </p:txBody>
      </p:sp>
      <p:sp>
        <p:nvSpPr>
          <p:cNvPr id="19" name="">
            <a:extLst xmlns:a="http://schemas.openxmlformats.org/drawingml/2006/main">
              <a:ext uri="{FF2B5EF4-FFF2-40B4-BE49-F238E27FC236}">
                <a16:creationId xmlns:a16="http://schemas.microsoft.com/office/drawing/2014/main" id="{D6B87D99-98B7-4956-8784-7F096FD07547}"/>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Add useful facts, photos, and answers.</a:t>
            </a:r>
          </a:p>
        </p:txBody>
      </p:sp>
      <p:sp>
        <p:nvSpPr>
          <p:cNvPr id="20" name="">
            <a:extLst xmlns:a="http://schemas.openxmlformats.org/drawingml/2006/main">
              <a:ext uri="{FF2B5EF4-FFF2-40B4-BE49-F238E27FC236}">
                <a16:creationId xmlns:a16="http://schemas.microsoft.com/office/drawing/2014/main" id="{81DB1D67-FA90-4568-83F3-E5B350F93CE0}"/>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1" name="">
            <a:extLst xmlns:a="http://schemas.openxmlformats.org/drawingml/2006/main">
              <a:ext uri="{FF2B5EF4-FFF2-40B4-BE49-F238E27FC236}">
                <a16:creationId xmlns:a16="http://schemas.microsoft.com/office/drawing/2014/main" id="{9068BE2F-812D-44DA-AAFE-3BC8749AD08E}"/>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2" name="">
            <a:extLst xmlns:a="http://schemas.openxmlformats.org/drawingml/2006/main">
              <a:ext uri="{FF2B5EF4-FFF2-40B4-BE49-F238E27FC236}">
                <a16:creationId xmlns:a16="http://schemas.microsoft.com/office/drawing/2014/main" id="{B03B4F28-584E-415B-A34A-182D84126496}"/>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One main button</a:t>
            </a:r>
          </a:p>
        </p:txBody>
      </p:sp>
      <p:sp>
        <p:nvSpPr>
          <p:cNvPr id="23" name="">
            <a:extLst xmlns:a="http://schemas.openxmlformats.org/drawingml/2006/main">
              <a:ext uri="{FF2B5EF4-FFF2-40B4-BE49-F238E27FC236}">
                <a16:creationId xmlns:a16="http://schemas.microsoft.com/office/drawing/2014/main" id="{D29B3D04-9C8E-48A9-9429-5B2BB1C5B9E1}"/>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Help customers call, email, or book.</a:t>
            </a:r>
          </a:p>
        </p:txBody>
      </p:sp>
      <p:sp>
        <p:nvSpPr>
          <p:cNvPr id="24" name="">
            <a:extLst xmlns:a="http://schemas.openxmlformats.org/drawingml/2006/main">
              <a:ext uri="{FF2B5EF4-FFF2-40B4-BE49-F238E27FC236}">
                <a16:creationId xmlns:a16="http://schemas.microsoft.com/office/drawing/2014/main" id="{139365DC-6A25-456D-81CD-2D18FCDD9F5A}"/>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build your first page</a:t>
            </a:r>
          </a:p>
        </p:txBody>
      </p:sp>
      <p:sp>
        <p:nvSpPr>
          <p:cNvPr id="25" name="">
            <a:extLst xmlns:a="http://schemas.openxmlformats.org/drawingml/2006/main">
              <a:ext uri="{FF2B5EF4-FFF2-40B4-BE49-F238E27FC236}">
                <a16:creationId xmlns:a16="http://schemas.microsoft.com/office/drawing/2014/main" id="{A389F3C4-C247-4B3F-BCD0-DEE5A7281426}"/>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Read PROJECT-BRIEF.md in this project; ask me for it if missing. Build or improve one website page. Show me two simple design options and let me choose. Include my offer, useful details, and one main contact button. Use only real facts and photos I may use. Ask for anything missing. Show me the page on a computer and phone. Do not publish it.</a:t>
            </a:r>
          </a:p>
        </p:txBody>
      </p:sp>
    </p:spTree>
    <p:extLst>
      <p:ext uri="{BB962C8B-B14F-4D97-AF65-F5344CB8AC3E}">
        <p14:creationId xmlns:p14="http://schemas.microsoft.com/office/powerpoint/2010/main" val="6191008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6CA4FD7-430C-4CBC-AB8E-223E4247491A}"/>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Put your website online with Vercel</a:t>
            </a:r>
          </a:p>
        </p:txBody>
      </p:sp>
      <p:sp>
        <p:nvSpPr>
          <p:cNvPr id="2" name="">
            <a:extLst xmlns:a="http://schemas.openxmlformats.org/drawingml/2006/main">
              <a:ext uri="{FF2B5EF4-FFF2-40B4-BE49-F238E27FC236}">
                <a16:creationId xmlns:a16="http://schemas.microsoft.com/office/drawing/2014/main" id="{A2552553-5E33-4BD7-B8FD-880D3FFB1F61}"/>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3A3D1F4D-E265-46A0-9860-B82866DFD3B1}"/>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F33081A-33BA-4D89-B991-2514365C2D43}"/>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Turn your local preview into a link you can share.</a:t>
            </a:r>
          </a:p>
        </p:txBody>
      </p:sp>
      <p:sp>
        <p:nvSpPr>
          <p:cNvPr id="5" name="">
            <a:extLst xmlns:a="http://schemas.openxmlformats.org/drawingml/2006/main">
              <a:ext uri="{FF2B5EF4-FFF2-40B4-BE49-F238E27FC236}">
                <a16:creationId xmlns:a16="http://schemas.microsoft.com/office/drawing/2014/main" id="{3F9ECAF9-A4D5-428B-83B3-3537E2B00625}"/>
              </a:ext>
            </a:extLst>
          </p:cNvPr>
          <p:cNvSpPr>
            <a:spLocks xmlns:a="http://schemas.openxmlformats.org/drawingml/2006/main" noGrp="1"/>
          </p:cNvSpPr>
          <p:nvPr/>
        </p:nvSpPr>
        <p:spPr>
          <a:xfrm xmlns:a="http://schemas.openxmlformats.org/drawingml/2006/main">
            <a:off x="66675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6" name="">
            <a:extLst xmlns:a="http://schemas.openxmlformats.org/drawingml/2006/main">
              <a:ext uri="{FF2B5EF4-FFF2-40B4-BE49-F238E27FC236}">
                <a16:creationId xmlns:a16="http://schemas.microsoft.com/office/drawing/2014/main" id="{5F8C85C5-34F2-4D07-BA08-5FBE1AA55CF7}"/>
              </a:ext>
            </a:extLst>
          </p:cNvPr>
          <p:cNvSpPr>
            <a:spLocks xmlns:a="http://schemas.openxmlformats.org/drawingml/2006/main" noGrp="1"/>
          </p:cNvSpPr>
          <p:nvPr/>
        </p:nvSpPr>
        <p:spPr>
          <a:xfrm xmlns:a="http://schemas.openxmlformats.org/drawingml/2006/main">
            <a:off x="66675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6B4F3DC8-0391-492B-A46E-7F13BC1FC24D}"/>
              </a:ext>
            </a:extLst>
          </p:cNvPr>
          <p:cNvSpPr>
            <a:spLocks xmlns:a="http://schemas.openxmlformats.org/drawingml/2006/main" noGrp="1"/>
          </p:cNvSpPr>
          <p:nvPr/>
        </p:nvSpPr>
        <p:spPr>
          <a:xfrm xmlns:a="http://schemas.openxmlformats.org/drawingml/2006/main">
            <a:off x="66675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Check</a:t>
            </a:r>
          </a:p>
        </p:txBody>
      </p:sp>
      <p:sp>
        <p:nvSpPr>
          <p:cNvPr id="8" name="">
            <a:extLst xmlns:a="http://schemas.openxmlformats.org/drawingml/2006/main">
              <a:ext uri="{FF2B5EF4-FFF2-40B4-BE49-F238E27FC236}">
                <a16:creationId xmlns:a16="http://schemas.microsoft.com/office/drawing/2014/main" id="{7F465C08-A48C-4ABA-B740-31C8E175EE16}"/>
              </a:ext>
            </a:extLst>
          </p:cNvPr>
          <p:cNvSpPr>
            <a:spLocks xmlns:a="http://schemas.openxmlformats.org/drawingml/2006/main" noGrp="1"/>
          </p:cNvSpPr>
          <p:nvPr/>
        </p:nvSpPr>
        <p:spPr>
          <a:xfrm xmlns:a="http://schemas.openxmlformats.org/drawingml/2006/main">
            <a:off x="66675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Make sure the page builds and works.</a:t>
            </a:r>
          </a:p>
        </p:txBody>
      </p:sp>
      <p:sp>
        <p:nvSpPr>
          <p:cNvPr id="9" name="">
            <a:extLst xmlns:a="http://schemas.openxmlformats.org/drawingml/2006/main">
              <a:ext uri="{FF2B5EF4-FFF2-40B4-BE49-F238E27FC236}">
                <a16:creationId xmlns:a16="http://schemas.microsoft.com/office/drawing/2014/main" id="{3C294E68-C000-42C1-B15A-6B0EDE560863}"/>
              </a:ext>
            </a:extLst>
          </p:cNvPr>
          <p:cNvSpPr>
            <a:spLocks xmlns:a="http://schemas.openxmlformats.org/drawingml/2006/main" noGrp="1"/>
          </p:cNvSpPr>
          <p:nvPr/>
        </p:nvSpPr>
        <p:spPr>
          <a:xfrm xmlns:a="http://schemas.openxmlformats.org/drawingml/2006/main">
            <a:off x="4333875"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0" name="">
            <a:extLst xmlns:a="http://schemas.openxmlformats.org/drawingml/2006/main">
              <a:ext uri="{FF2B5EF4-FFF2-40B4-BE49-F238E27FC236}">
                <a16:creationId xmlns:a16="http://schemas.microsoft.com/office/drawing/2014/main" id="{97BDA40D-8713-4E36-81E1-C311DBEF707F}"/>
              </a:ext>
            </a:extLst>
          </p:cNvPr>
          <p:cNvSpPr>
            <a:spLocks xmlns:a="http://schemas.openxmlformats.org/drawingml/2006/main" noGrp="1"/>
          </p:cNvSpPr>
          <p:nvPr/>
        </p:nvSpPr>
        <p:spPr>
          <a:xfrm xmlns:a="http://schemas.openxmlformats.org/drawingml/2006/main">
            <a:off x="4333875"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0D68036D-102B-433B-91BE-3960257FBEB5}"/>
              </a:ext>
            </a:extLst>
          </p:cNvPr>
          <p:cNvSpPr>
            <a:spLocks xmlns:a="http://schemas.openxmlformats.org/drawingml/2006/main" noGrp="1"/>
          </p:cNvSpPr>
          <p:nvPr/>
        </p:nvSpPr>
        <p:spPr>
          <a:xfrm xmlns:a="http://schemas.openxmlformats.org/drawingml/2006/main">
            <a:off x="4333875"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Deploy</a:t>
            </a:r>
          </a:p>
        </p:txBody>
      </p:sp>
      <p:sp>
        <p:nvSpPr>
          <p:cNvPr id="12" name="">
            <a:extLst xmlns:a="http://schemas.openxmlformats.org/drawingml/2006/main">
              <a:ext uri="{FF2B5EF4-FFF2-40B4-BE49-F238E27FC236}">
                <a16:creationId xmlns:a16="http://schemas.microsoft.com/office/drawing/2014/main" id="{083675A9-70AB-451A-B8BB-8A9C9E13BAAF}"/>
              </a:ext>
            </a:extLst>
          </p:cNvPr>
          <p:cNvSpPr>
            <a:spLocks xmlns:a="http://schemas.openxmlformats.org/drawingml/2006/main" noGrp="1"/>
          </p:cNvSpPr>
          <p:nvPr/>
        </p:nvSpPr>
        <p:spPr>
          <a:xfrm xmlns:a="http://schemas.openxmlformats.org/drawingml/2006/main">
            <a:off x="4333875"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Use your Vercel account and project.</a:t>
            </a:r>
          </a:p>
        </p:txBody>
      </p:sp>
      <p:sp>
        <p:nvSpPr>
          <p:cNvPr id="13" name="">
            <a:extLst xmlns:a="http://schemas.openxmlformats.org/drawingml/2006/main">
              <a:ext uri="{FF2B5EF4-FFF2-40B4-BE49-F238E27FC236}">
                <a16:creationId xmlns:a16="http://schemas.microsoft.com/office/drawing/2014/main" id="{16E03B15-7C6C-49C7-AFBF-D51E5BB6C782}"/>
              </a:ext>
            </a:extLst>
          </p:cNvPr>
          <p:cNvSpPr>
            <a:spLocks xmlns:a="http://schemas.openxmlformats.org/drawingml/2006/main" noGrp="1"/>
          </p:cNvSpPr>
          <p:nvPr/>
        </p:nvSpPr>
        <p:spPr>
          <a:xfrm xmlns:a="http://schemas.openxmlformats.org/drawingml/2006/main">
            <a:off x="800100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4" name="">
            <a:extLst xmlns:a="http://schemas.openxmlformats.org/drawingml/2006/main">
              <a:ext uri="{FF2B5EF4-FFF2-40B4-BE49-F238E27FC236}">
                <a16:creationId xmlns:a16="http://schemas.microsoft.com/office/drawing/2014/main" id="{FC2FD229-D4C0-4049-9518-E2EB01A1EFD4}"/>
              </a:ext>
            </a:extLst>
          </p:cNvPr>
          <p:cNvSpPr>
            <a:spLocks xmlns:a="http://schemas.openxmlformats.org/drawingml/2006/main" noGrp="1"/>
          </p:cNvSpPr>
          <p:nvPr/>
        </p:nvSpPr>
        <p:spPr>
          <a:xfrm xmlns:a="http://schemas.openxmlformats.org/drawingml/2006/main">
            <a:off x="800100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9972926E-B7AA-4F1C-9921-8772CF23DEE7}"/>
              </a:ext>
            </a:extLst>
          </p:cNvPr>
          <p:cNvSpPr>
            <a:spLocks xmlns:a="http://schemas.openxmlformats.org/drawingml/2006/main" noGrp="1"/>
          </p:cNvSpPr>
          <p:nvPr/>
        </p:nvSpPr>
        <p:spPr>
          <a:xfrm xmlns:a="http://schemas.openxmlformats.org/drawingml/2006/main">
            <a:off x="800100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Open</a:t>
            </a:r>
          </a:p>
        </p:txBody>
      </p:sp>
      <p:sp>
        <p:nvSpPr>
          <p:cNvPr id="16" name="">
            <a:extLst xmlns:a="http://schemas.openxmlformats.org/drawingml/2006/main">
              <a:ext uri="{FF2B5EF4-FFF2-40B4-BE49-F238E27FC236}">
                <a16:creationId xmlns:a16="http://schemas.microsoft.com/office/drawing/2014/main" id="{C50DF727-FCD4-45FC-B08C-ABEBA6C10015}"/>
              </a:ext>
            </a:extLst>
          </p:cNvPr>
          <p:cNvSpPr>
            <a:spLocks xmlns:a="http://schemas.openxmlformats.org/drawingml/2006/main" noGrp="1"/>
          </p:cNvSpPr>
          <p:nvPr/>
        </p:nvSpPr>
        <p:spPr>
          <a:xfrm xmlns:a="http://schemas.openxmlformats.org/drawingml/2006/main">
            <a:off x="800100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Test the link on your phone.</a:t>
            </a:r>
          </a:p>
        </p:txBody>
      </p:sp>
      <p:sp>
        <p:nvSpPr>
          <p:cNvPr id="17" name="">
            <a:extLst xmlns:a="http://schemas.openxmlformats.org/drawingml/2006/main">
              <a:ext uri="{FF2B5EF4-FFF2-40B4-BE49-F238E27FC236}">
                <a16:creationId xmlns:a16="http://schemas.microsoft.com/office/drawing/2014/main" id="{FBFF2855-5444-42EE-9F16-F0E3AE38C8D9}"/>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deploy with Vercel</a:t>
            </a:r>
          </a:p>
        </p:txBody>
      </p:sp>
      <p:sp>
        <p:nvSpPr>
          <p:cNvPr id="18" name="">
            <a:extLst xmlns:a="http://schemas.openxmlformats.org/drawingml/2006/main">
              <a:ext uri="{FF2B5EF4-FFF2-40B4-BE49-F238E27FC236}">
                <a16:creationId xmlns:a16="http://schemas.microsoft.com/office/drawing/2014/main" id="{8CD76654-AFB8-4D95-BAD9-68CA7E44E3C4}"/>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Help me deploy this website to Vercel. First check the build and ask whether I have a Vercel account and project. Guide me through sign-in and show me the deployment plan. After I approve, deploy it and give me the link. Check the live page and contact button. Explain how to update it and connect my domain.</a:t>
            </a:r>
          </a:p>
        </p:txBody>
      </p:sp>
    </p:spTree>
    <p:extLst>
      <p:ext uri="{BB962C8B-B14F-4D97-AF65-F5344CB8AC3E}">
        <p14:creationId xmlns:p14="http://schemas.microsoft.com/office/powerpoint/2010/main" val="10539265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D27B57F-0E12-4601-A86D-BFA42A66ED34}"/>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Check SEO, AI search, and agent access</a:t>
            </a:r>
          </a:p>
        </p:txBody>
      </p:sp>
      <p:sp>
        <p:nvSpPr>
          <p:cNvPr id="2" name="">
            <a:extLst xmlns:a="http://schemas.openxmlformats.org/drawingml/2006/main">
              <a:ext uri="{FF2B5EF4-FFF2-40B4-BE49-F238E27FC236}">
                <a16:creationId xmlns:a16="http://schemas.microsoft.com/office/drawing/2014/main" id="{AB53226E-641F-47E6-8028-082D5F479BB6}"/>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8370C17B-89E0-4FA3-9E23-088273C65897}"/>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AC80945E-7E0B-4A3E-AF57-9E7970EAD4ED}"/>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Use the installed skills, then check your public website.</a:t>
            </a:r>
          </a:p>
        </p:txBody>
      </p:sp>
      <p:sp>
        <p:nvSpPr>
          <p:cNvPr id="5" name="">
            <a:extLst xmlns:a="http://schemas.openxmlformats.org/drawingml/2006/main">
              <a:ext uri="{FF2B5EF4-FFF2-40B4-BE49-F238E27FC236}">
                <a16:creationId xmlns:a16="http://schemas.microsoft.com/office/drawing/2014/main" id="{D14ED9E9-7E62-4F2B-9236-E1E633D7C6AF}"/>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3074C155-5656-4457-89CB-BAB0147403C7}"/>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1DCC576B-C6DC-48A6-9CE3-4A30FB483088}"/>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D590F2E1-D8A3-44BD-9B43-E8D56342CBB9}"/>
              </a:ext>
            </a:extLst>
          </p:cNvPr>
          <p:cNvSpPr>
            <a:spLocks xmlns:a="http://schemas.openxmlformats.org/drawingml/2006/main" noGrp="1"/>
          </p:cNvSpPr>
          <p:nvPr/>
        </p:nvSpPr>
        <p:spPr>
          <a:xfrm xmlns:a="http://schemas.openxmlformats.org/drawingml/2006/main">
            <a:off x="857250" y="2543175"/>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E55CA"/>
                </a:solidFill>
                <a:latin typeface="Helvetica Neue"/>
                <a:ea typeface="Helvetica Neue"/>
                <a:cs typeface="Helvetica Neue"/>
              </a:defRPr>
            </a:defPPr>
          </a:lstStyle>
          <a:p xmlns:a="http://schemas.openxmlformats.org/drawingml/2006/main">
            <a:pPr>
              <a:defRPr sz="2250" b="1">
                <a:solidFill>
                  <a:srgbClr val="3E55CA"/>
                </a:solidFill>
                <a:latin typeface="Helvetica Neue"/>
                <a:ea typeface="Helvetica Neue"/>
                <a:cs typeface="Helvetica Neue"/>
              </a:defRPr>
            </a:pPr>
            <a:r>
              <a:rPr sz="2250" b="1">
                <a:solidFill>
                  <a:srgbClr val="3E55CA"/>
                </a:solidFill>
                <a:latin typeface="Helvetica Neue"/>
                <a:ea typeface="Helvetica Neue"/>
                <a:cs typeface="Helvetica Neue"/>
              </a:rPr>
              <a:t>Your service + your location</a:t>
            </a:r>
          </a:p>
        </p:txBody>
      </p:sp>
      <p:sp>
        <p:nvSpPr>
          <p:cNvPr id="9" name="">
            <a:extLst xmlns:a="http://schemas.openxmlformats.org/drawingml/2006/main">
              <a:ext uri="{FF2B5EF4-FFF2-40B4-BE49-F238E27FC236}">
                <a16:creationId xmlns:a16="http://schemas.microsoft.com/office/drawing/2014/main" id="{8769C495-08D1-443A-989F-AF2467156A56}"/>
              </a:ext>
            </a:extLst>
          </p:cNvPr>
          <p:cNvSpPr>
            <a:spLocks xmlns:a="http://schemas.openxmlformats.org/drawingml/2006/main" noGrp="1"/>
          </p:cNvSpPr>
          <p:nvPr/>
        </p:nvSpPr>
        <p:spPr>
          <a:xfrm xmlns:a="http://schemas.openxmlformats.org/drawingml/2006/main">
            <a:off x="857250" y="328612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Say what you do and where you work.</a:t>
            </a:r>
          </a:p>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Example search result.</a:t>
            </a:r>
          </a:p>
        </p:txBody>
      </p:sp>
      <p:sp>
        <p:nvSpPr>
          <p:cNvPr id="10" name="">
            <a:extLst xmlns:a="http://schemas.openxmlformats.org/drawingml/2006/main">
              <a:ext uri="{FF2B5EF4-FFF2-40B4-BE49-F238E27FC236}">
                <a16:creationId xmlns:a16="http://schemas.microsoft.com/office/drawing/2014/main" id="{BF2B9B3E-799E-4D9A-B0AA-CDAAE71C3DEF}"/>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1" name="">
            <a:extLst xmlns:a="http://schemas.openxmlformats.org/drawingml/2006/main">
              <a:ext uri="{FF2B5EF4-FFF2-40B4-BE49-F238E27FC236}">
                <a16:creationId xmlns:a16="http://schemas.microsoft.com/office/drawing/2014/main" id="{4669FF87-5814-41BC-A656-436F36D7CFA7}"/>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2" name="">
            <a:extLst xmlns:a="http://schemas.openxmlformats.org/drawingml/2006/main">
              <a:ext uri="{FF2B5EF4-FFF2-40B4-BE49-F238E27FC236}">
                <a16:creationId xmlns:a16="http://schemas.microsoft.com/office/drawing/2014/main" id="{EE2111B2-522C-4F97-8D14-122BDC5EADE8}"/>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SEO audit</a:t>
            </a:r>
          </a:p>
        </p:txBody>
      </p:sp>
      <p:sp>
        <p:nvSpPr>
          <p:cNvPr id="13" name="">
            <a:extLst xmlns:a="http://schemas.openxmlformats.org/drawingml/2006/main">
              <a:ext uri="{FF2B5EF4-FFF2-40B4-BE49-F238E27FC236}">
                <a16:creationId xmlns:a16="http://schemas.microsoft.com/office/drawing/2014/main" id="{8C7EE837-1C82-4322-8664-2CFCCED09B38}"/>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seo-audit: check search settings and useful content.</a:t>
            </a:r>
          </a:p>
        </p:txBody>
      </p:sp>
      <p:sp>
        <p:nvSpPr>
          <p:cNvPr id="14" name="">
            <a:extLst xmlns:a="http://schemas.openxmlformats.org/drawingml/2006/main">
              <a:ext uri="{FF2B5EF4-FFF2-40B4-BE49-F238E27FC236}">
                <a16:creationId xmlns:a16="http://schemas.microsoft.com/office/drawing/2014/main" id="{0843008A-5B46-4812-B038-C99DDA7022F8}"/>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5" name="">
            <a:extLst xmlns:a="http://schemas.openxmlformats.org/drawingml/2006/main">
              <a:ext uri="{FF2B5EF4-FFF2-40B4-BE49-F238E27FC236}">
                <a16:creationId xmlns:a16="http://schemas.microsoft.com/office/drawing/2014/main" id="{4703595B-19AD-4FCC-9ACD-F8F798A148F6}"/>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6" name="">
            <a:extLst xmlns:a="http://schemas.openxmlformats.org/drawingml/2006/main">
              <a:ext uri="{FF2B5EF4-FFF2-40B4-BE49-F238E27FC236}">
                <a16:creationId xmlns:a16="http://schemas.microsoft.com/office/drawing/2014/main" id="{279A6A98-FC34-4E4A-AD9B-EFE292561029}"/>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AI answers</a:t>
            </a:r>
          </a:p>
        </p:txBody>
      </p:sp>
      <p:sp>
        <p:nvSpPr>
          <p:cNvPr id="17" name="">
            <a:extLst xmlns:a="http://schemas.openxmlformats.org/drawingml/2006/main">
              <a:ext uri="{FF2B5EF4-FFF2-40B4-BE49-F238E27FC236}">
                <a16:creationId xmlns:a16="http://schemas.microsoft.com/office/drawing/2014/main" id="{34E01C95-02C8-4323-A4E3-13FFD850DB01}"/>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ai-seo: check whether your answers are clear and useful.</a:t>
            </a:r>
          </a:p>
        </p:txBody>
      </p:sp>
      <p:sp>
        <p:nvSpPr>
          <p:cNvPr id="18" name="">
            <a:extLst xmlns:a="http://schemas.openxmlformats.org/drawingml/2006/main">
              <a:ext uri="{FF2B5EF4-FFF2-40B4-BE49-F238E27FC236}">
                <a16:creationId xmlns:a16="http://schemas.microsoft.com/office/drawing/2014/main" id="{8AB585C1-05C5-4B7B-8500-BB04CC341ADA}"/>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9" name="">
            <a:extLst xmlns:a="http://schemas.openxmlformats.org/drawingml/2006/main">
              <a:ext uri="{FF2B5EF4-FFF2-40B4-BE49-F238E27FC236}">
                <a16:creationId xmlns:a16="http://schemas.microsoft.com/office/drawing/2014/main" id="{EAE71588-B9C4-4831-A552-DED48FB16FE1}"/>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4D19B50D-C15C-4BEE-B557-E574D798EE5D}"/>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Agent access</a:t>
            </a:r>
          </a:p>
        </p:txBody>
      </p:sp>
      <p:sp>
        <p:nvSpPr>
          <p:cNvPr id="21" name="">
            <a:extLst xmlns:a="http://schemas.openxmlformats.org/drawingml/2006/main">
              <a:ext uri="{FF2B5EF4-FFF2-40B4-BE49-F238E27FC236}">
                <a16:creationId xmlns:a16="http://schemas.microsoft.com/office/drawing/2014/main" id="{495E8113-F624-4E40-87F9-6E476B86DB7D}"/>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Enter your public URL at is-agentic.com.</a:t>
            </a:r>
          </a:p>
        </p:txBody>
      </p:sp>
      <p:sp>
        <p:nvSpPr>
          <p:cNvPr id="22" name="">
            <a:extLst xmlns:a="http://schemas.openxmlformats.org/drawingml/2006/main">
              <a:ext uri="{FF2B5EF4-FFF2-40B4-BE49-F238E27FC236}">
                <a16:creationId xmlns:a16="http://schemas.microsoft.com/office/drawing/2014/main" id="{551A0F4D-E9BD-4CCD-ACBC-3A9569138743}"/>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install and check search skills</a:t>
            </a:r>
          </a:p>
        </p:txBody>
      </p:sp>
      <p:sp>
        <p:nvSpPr>
          <p:cNvPr id="23" name="">
            <a:extLst xmlns:a="http://schemas.openxmlformats.org/drawingml/2006/main">
              <a:ext uri="{FF2B5EF4-FFF2-40B4-BE49-F238E27FC236}">
                <a16:creationId xmlns:a16="http://schemas.microsoft.com/office/drawing/2014/main" id="{14F712A7-B17D-481A-A0D4-1DAB48872DF6}"/>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Check that seo-audit and ai-seo are installed; install them from the reviewed source if needed. Use both to improve my website. Then ask for my public URL and help me check it at is-agentic.com. Explain the three most useful fixes.</a:t>
            </a:r>
          </a:p>
        </p:txBody>
      </p:sp>
    </p:spTree>
    <p:extLst>
      <p:ext uri="{BB962C8B-B14F-4D97-AF65-F5344CB8AC3E}">
        <p14:creationId xmlns:p14="http://schemas.microsoft.com/office/powerpoint/2010/main" val="18771693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71215EC-A64B-4353-8596-7251EA8889AF}"/>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Give visitors a useful free resource</a:t>
            </a:r>
          </a:p>
        </p:txBody>
      </p:sp>
      <p:sp>
        <p:nvSpPr>
          <p:cNvPr id="2" name="">
            <a:extLst xmlns:a="http://schemas.openxmlformats.org/drawingml/2006/main">
              <a:ext uri="{FF2B5EF4-FFF2-40B4-BE49-F238E27FC236}">
                <a16:creationId xmlns:a16="http://schemas.microsoft.com/office/drawing/2014/main" id="{162045BE-DCDD-4E2E-85C1-397D356254A7}"/>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9EC5A1B1-2F53-476A-9413-AA71C97D9000}"/>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5E53087-FADF-4453-AD50-F1959F9AC7FA}"/>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A lead magnet is something helpful people request from your website.</a:t>
            </a:r>
          </a:p>
        </p:txBody>
      </p:sp>
      <p:sp>
        <p:nvSpPr>
          <p:cNvPr id="5" name="">
            <a:extLst xmlns:a="http://schemas.openxmlformats.org/drawingml/2006/main">
              <a:ext uri="{FF2B5EF4-FFF2-40B4-BE49-F238E27FC236}">
                <a16:creationId xmlns:a16="http://schemas.microsoft.com/office/drawing/2014/main" id="{675186EA-1EA6-4290-9801-769CCF703F26}"/>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BFD5AF53-C24F-4D78-BA28-732E466EC8CF}"/>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1EB9361E-C4B9-4C01-BB0C-45C24C825936}"/>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3880CE85-4FBB-48A8-8484-12E470326F49}"/>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FREE RESOURCE</a:t>
            </a:r>
          </a:p>
        </p:txBody>
      </p:sp>
      <p:sp>
        <p:nvSpPr>
          <p:cNvPr id="9" name="">
            <a:extLst xmlns:a="http://schemas.openxmlformats.org/drawingml/2006/main">
              <a:ext uri="{FF2B5EF4-FFF2-40B4-BE49-F238E27FC236}">
                <a16:creationId xmlns:a16="http://schemas.microsoft.com/office/drawing/2014/main" id="{F973715D-4675-4505-8902-C4C455412BE6}"/>
              </a:ext>
            </a:extLst>
          </p:cNvPr>
          <p:cNvSpPr>
            <a:spLocks xmlns:a="http://schemas.openxmlformats.org/drawingml/2006/main" noGrp="1"/>
          </p:cNvSpPr>
          <p:nvPr/>
        </p:nvSpPr>
        <p:spPr>
          <a:xfrm xmlns:a="http://schemas.openxmlformats.org/drawingml/2006/main">
            <a:off x="857250" y="274320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1318"/>
                </a:solidFill>
                <a:latin typeface="Helvetica Neue"/>
                <a:ea typeface="Helvetica Neue"/>
                <a:cs typeface="Helvetica Neue"/>
              </a:defRPr>
            </a:defPPr>
          </a:lstStyle>
          <a:p xmlns:a="http://schemas.openxmlformats.org/drawingml/2006/main">
            <a:pP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 useful checklist</a:t>
            </a:r>
          </a:p>
        </p:txBody>
      </p:sp>
      <p:sp>
        <p:nvSpPr>
          <p:cNvPr id="10" name="">
            <a:extLst xmlns:a="http://schemas.openxmlformats.org/drawingml/2006/main">
              <a:ext uri="{FF2B5EF4-FFF2-40B4-BE49-F238E27FC236}">
                <a16:creationId xmlns:a16="http://schemas.microsoft.com/office/drawing/2014/main" id="{85F5BBCB-D9FD-4721-A0C2-2CF699B13305}"/>
              </a:ext>
            </a:extLst>
          </p:cNvPr>
          <p:cNvSpPr>
            <a:spLocks xmlns:a="http://schemas.openxmlformats.org/drawingml/2006/main" noGrp="1"/>
          </p:cNvSpPr>
          <p:nvPr/>
        </p:nvSpPr>
        <p:spPr>
          <a:xfrm xmlns:a="http://schemas.openxmlformats.org/drawingml/2006/main">
            <a:off x="85725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92037"/>
                </a:solidFill>
                <a:latin typeface="Helvetica Neue"/>
                <a:ea typeface="Helvetica Neue"/>
                <a:cs typeface="Helvetica Neue"/>
              </a:defRPr>
            </a:defPPr>
          </a:lstStyle>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Three practical steps.</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Help with one small problem.</a:t>
            </a:r>
          </a:p>
        </p:txBody>
      </p:sp>
      <p:sp>
        <p:nvSpPr>
          <p:cNvPr id="11" name="">
            <a:extLst xmlns:a="http://schemas.openxmlformats.org/drawingml/2006/main">
              <a:ext uri="{FF2B5EF4-FFF2-40B4-BE49-F238E27FC236}">
                <a16:creationId xmlns:a16="http://schemas.microsoft.com/office/drawing/2014/main" id="{C31CE304-6DC0-4CA3-9BDC-CB71ACD59E1A}"/>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8E4F876C-3165-4680-A580-DB21DDAB10A3}"/>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2B56049B-C4B3-4D05-BEC6-3A502C544831}"/>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Choose</a:t>
            </a:r>
          </a:p>
        </p:txBody>
      </p:sp>
      <p:sp>
        <p:nvSpPr>
          <p:cNvPr id="14" name="">
            <a:extLst xmlns:a="http://schemas.openxmlformats.org/drawingml/2006/main">
              <a:ext uri="{FF2B5EF4-FFF2-40B4-BE49-F238E27FC236}">
                <a16:creationId xmlns:a16="http://schemas.microsoft.com/office/drawing/2014/main" id="{5784F37D-8D1A-4760-9D02-5D34E3889702}"/>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 checklist, guide, or calculator for your customer.</a:t>
            </a:r>
          </a:p>
        </p:txBody>
      </p:sp>
      <p:sp>
        <p:nvSpPr>
          <p:cNvPr id="15" name="">
            <a:extLst xmlns:a="http://schemas.openxmlformats.org/drawingml/2006/main">
              <a:ext uri="{FF2B5EF4-FFF2-40B4-BE49-F238E27FC236}">
                <a16:creationId xmlns:a16="http://schemas.microsoft.com/office/drawing/2014/main" id="{901D1B4A-8987-4E2F-8EA8-A8496DE4EE34}"/>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6" name="">
            <a:extLst xmlns:a="http://schemas.openxmlformats.org/drawingml/2006/main">
              <a:ext uri="{FF2B5EF4-FFF2-40B4-BE49-F238E27FC236}">
                <a16:creationId xmlns:a16="http://schemas.microsoft.com/office/drawing/2014/main" id="{E3E50052-62D8-4BB5-9398-811A0A93439C}"/>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5B517F5A-5C39-4BC7-9F92-49ECFAA0344D}"/>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Create</a:t>
            </a:r>
          </a:p>
        </p:txBody>
      </p:sp>
      <p:sp>
        <p:nvSpPr>
          <p:cNvPr id="18" name="">
            <a:extLst xmlns:a="http://schemas.openxmlformats.org/drawingml/2006/main">
              <a:ext uri="{FF2B5EF4-FFF2-40B4-BE49-F238E27FC236}">
                <a16:creationId xmlns:a16="http://schemas.microsoft.com/office/drawing/2014/main" id="{8BF32107-6B13-49E7-AFEE-F47EA3FEC0EA}"/>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Solve one small problem with useful advice.</a:t>
            </a:r>
          </a:p>
        </p:txBody>
      </p:sp>
      <p:sp>
        <p:nvSpPr>
          <p:cNvPr id="19" name="">
            <a:extLst xmlns:a="http://schemas.openxmlformats.org/drawingml/2006/main">
              <a:ext uri="{FF2B5EF4-FFF2-40B4-BE49-F238E27FC236}">
                <a16:creationId xmlns:a16="http://schemas.microsoft.com/office/drawing/2014/main" id="{5215B6F4-8925-47C2-9E65-D99721691E45}"/>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0" name="">
            <a:extLst xmlns:a="http://schemas.openxmlformats.org/drawingml/2006/main">
              <a:ext uri="{FF2B5EF4-FFF2-40B4-BE49-F238E27FC236}">
                <a16:creationId xmlns:a16="http://schemas.microsoft.com/office/drawing/2014/main" id="{C2BE732D-407F-4FD7-B1FC-51915923C483}"/>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A299C023-5749-4DF6-A9D3-5F950409FEFB}"/>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Offer</a:t>
            </a:r>
          </a:p>
        </p:txBody>
      </p:sp>
      <p:sp>
        <p:nvSpPr>
          <p:cNvPr id="22" name="">
            <a:extLst xmlns:a="http://schemas.openxmlformats.org/drawingml/2006/main">
              <a:ext uri="{FF2B5EF4-FFF2-40B4-BE49-F238E27FC236}">
                <a16:creationId xmlns:a16="http://schemas.microsoft.com/office/drawing/2014/main" id="{D96D356D-BBE4-402A-B35D-309752E7C99A}"/>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Add a clear request form and delivery link.</a:t>
            </a:r>
          </a:p>
        </p:txBody>
      </p:sp>
      <p:sp>
        <p:nvSpPr>
          <p:cNvPr id="23" name="">
            <a:extLst xmlns:a="http://schemas.openxmlformats.org/drawingml/2006/main">
              <a:ext uri="{FF2B5EF4-FFF2-40B4-BE49-F238E27FC236}">
                <a16:creationId xmlns:a16="http://schemas.microsoft.com/office/drawing/2014/main" id="{E4870C9D-1DE3-4FA9-BCAB-CF4AF7E0E7FA}"/>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choose and create a lead magnet</a:t>
            </a:r>
          </a:p>
        </p:txBody>
      </p:sp>
      <p:sp>
        <p:nvSpPr>
          <p:cNvPr id="24" name="">
            <a:extLst xmlns:a="http://schemas.openxmlformats.org/drawingml/2006/main">
              <a:ext uri="{FF2B5EF4-FFF2-40B4-BE49-F238E27FC236}">
                <a16:creationId xmlns:a16="http://schemas.microsoft.com/office/drawing/2014/main" id="{2E1CA46F-CF74-492B-BB41-1070097D75D3}"/>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First ask whether I already have a lead magnet or know what I want. If not, research three relevant competitors and link your sources. Propose three useful ideas for my customers and explain each. Let me choose, then create an original resource and a simple request form. Ask how it should be delivered. Use my real business facts.</a:t>
            </a:r>
          </a:p>
        </p:txBody>
      </p:sp>
    </p:spTree>
    <p:extLst>
      <p:ext uri="{BB962C8B-B14F-4D97-AF65-F5344CB8AC3E}">
        <p14:creationId xmlns:p14="http://schemas.microsoft.com/office/powerpoint/2010/main" val="2670171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C91F350-330B-4E8D-B7D0-9C39BE1931DE}"/>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Get an email when a lead arrives</a:t>
            </a:r>
          </a:p>
        </p:txBody>
      </p:sp>
      <p:sp>
        <p:nvSpPr>
          <p:cNvPr id="2" name="">
            <a:extLst xmlns:a="http://schemas.openxmlformats.org/drawingml/2006/main">
              <a:ext uri="{FF2B5EF4-FFF2-40B4-BE49-F238E27FC236}">
                <a16:creationId xmlns:a16="http://schemas.microsoft.com/office/drawing/2014/main" id="{683E8A6E-0A5F-4219-9204-429C5AA7271C}"/>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2AC2ECEC-6A1D-4E01-927C-48E4BE41E556}"/>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172FECBA-E794-4EE8-8CDC-FA3B31AE12DD}"/>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Use Resend to send new website inquiries to your own inbox.</a:t>
            </a:r>
          </a:p>
        </p:txBody>
      </p:sp>
      <p:sp>
        <p:nvSpPr>
          <p:cNvPr id="5" name="">
            <a:extLst xmlns:a="http://schemas.openxmlformats.org/drawingml/2006/main">
              <a:ext uri="{FF2B5EF4-FFF2-40B4-BE49-F238E27FC236}">
                <a16:creationId xmlns:a16="http://schemas.microsoft.com/office/drawing/2014/main" id="{15F472ED-68DA-4090-8F55-250ECB0482C2}"/>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76619346-84E8-48DB-8A1D-A1B9DA037AAD}"/>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ECA82AED-C0FC-4590-B42E-D6D75DF43F84}"/>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A39A790F-75A5-4EBD-B3FC-6491B31C52F4}"/>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YOUR INBOX</a:t>
            </a:r>
          </a:p>
        </p:txBody>
      </p:sp>
      <p:sp>
        <p:nvSpPr>
          <p:cNvPr id="9" name="">
            <a:extLst xmlns:a="http://schemas.openxmlformats.org/drawingml/2006/main">
              <a:ext uri="{FF2B5EF4-FFF2-40B4-BE49-F238E27FC236}">
                <a16:creationId xmlns:a16="http://schemas.microsoft.com/office/drawing/2014/main" id="{37B62B39-490F-44AE-A0FE-A0895C337CED}"/>
              </a:ext>
            </a:extLst>
          </p:cNvPr>
          <p:cNvSpPr>
            <a:spLocks xmlns:a="http://schemas.openxmlformats.org/drawingml/2006/main" noGrp="1"/>
          </p:cNvSpPr>
          <p:nvPr/>
        </p:nvSpPr>
        <p:spPr>
          <a:xfrm xmlns:a="http://schemas.openxmlformats.org/drawingml/2006/main">
            <a:off x="857250" y="274320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1318"/>
                </a:solidFill>
                <a:latin typeface="Helvetica Neue"/>
                <a:ea typeface="Helvetica Neue"/>
                <a:cs typeface="Helvetica Neue"/>
              </a:defRPr>
            </a:defPPr>
          </a:lstStyle>
          <a:p xmlns:a="http://schemas.openxmlformats.org/drawingml/2006/main">
            <a:pP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 new lead arrived</a:t>
            </a:r>
          </a:p>
        </p:txBody>
      </p:sp>
      <p:sp>
        <p:nvSpPr>
          <p:cNvPr id="10" name="">
            <a:extLst xmlns:a="http://schemas.openxmlformats.org/drawingml/2006/main">
              <a:ext uri="{FF2B5EF4-FFF2-40B4-BE49-F238E27FC236}">
                <a16:creationId xmlns:a16="http://schemas.microsoft.com/office/drawing/2014/main" id="{42BB74BC-E8F5-4FFF-B190-EC0CF1C5379F}"/>
              </a:ext>
            </a:extLst>
          </p:cNvPr>
          <p:cNvSpPr>
            <a:spLocks xmlns:a="http://schemas.openxmlformats.org/drawingml/2006/main" noGrp="1"/>
          </p:cNvSpPr>
          <p:nvPr/>
        </p:nvSpPr>
        <p:spPr>
          <a:xfrm xmlns:a="http://schemas.openxmlformats.org/drawingml/2006/main">
            <a:off x="85725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92037"/>
                </a:solidFill>
                <a:latin typeface="Helvetica Neue"/>
                <a:ea typeface="Helvetica Neue"/>
                <a:cs typeface="Helvetica Neue"/>
              </a:defRPr>
            </a:defPPr>
          </a:lstStyle>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Name, email, and message.</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Ready for your follow-up.</a:t>
            </a:r>
          </a:p>
        </p:txBody>
      </p:sp>
      <p:sp>
        <p:nvSpPr>
          <p:cNvPr id="11" name="">
            <a:extLst xmlns:a="http://schemas.openxmlformats.org/drawingml/2006/main">
              <a:ext uri="{FF2B5EF4-FFF2-40B4-BE49-F238E27FC236}">
                <a16:creationId xmlns:a16="http://schemas.microsoft.com/office/drawing/2014/main" id="{0740B535-6D5E-4EA4-8E86-3B7E058F6C33}"/>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79F4AC79-7520-4E5C-A05A-6950D41FCEB7}"/>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49E58093-8D80-446E-90A1-381A7670D6C3}"/>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Connect</a:t>
            </a:r>
          </a:p>
        </p:txBody>
      </p:sp>
      <p:sp>
        <p:nvSpPr>
          <p:cNvPr id="14" name="">
            <a:extLst xmlns:a="http://schemas.openxmlformats.org/drawingml/2006/main">
              <a:ext uri="{FF2B5EF4-FFF2-40B4-BE49-F238E27FC236}">
                <a16:creationId xmlns:a16="http://schemas.microsoft.com/office/drawing/2014/main" id="{17476799-79B6-474D-BD2E-4983028FAA17}"/>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Set up Resend and verify your sending domain.</a:t>
            </a:r>
          </a:p>
        </p:txBody>
      </p:sp>
      <p:sp>
        <p:nvSpPr>
          <p:cNvPr id="15" name="">
            <a:extLst xmlns:a="http://schemas.openxmlformats.org/drawingml/2006/main">
              <a:ext uri="{FF2B5EF4-FFF2-40B4-BE49-F238E27FC236}">
                <a16:creationId xmlns:a16="http://schemas.microsoft.com/office/drawing/2014/main" id="{54A3CC26-A2BD-494B-A3EE-6154410BE5CC}"/>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6" name="">
            <a:extLst xmlns:a="http://schemas.openxmlformats.org/drawingml/2006/main">
              <a:ext uri="{FF2B5EF4-FFF2-40B4-BE49-F238E27FC236}">
                <a16:creationId xmlns:a16="http://schemas.microsoft.com/office/drawing/2014/main" id="{47549855-2A0B-435B-A50C-F9BE928C0BB8}"/>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ADAA19D6-0A36-447D-924C-684D2FFE6E7D}"/>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Notify</a:t>
            </a:r>
          </a:p>
        </p:txBody>
      </p:sp>
      <p:sp>
        <p:nvSpPr>
          <p:cNvPr id="18" name="">
            <a:extLst xmlns:a="http://schemas.openxmlformats.org/drawingml/2006/main">
              <a:ext uri="{FF2B5EF4-FFF2-40B4-BE49-F238E27FC236}">
                <a16:creationId xmlns:a16="http://schemas.microsoft.com/office/drawing/2014/main" id="{699004FC-3AD8-49EF-8795-659B93E40744}"/>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Email the lead’s details to your own inbox.</a:t>
            </a:r>
          </a:p>
        </p:txBody>
      </p:sp>
      <p:sp>
        <p:nvSpPr>
          <p:cNvPr id="19" name="">
            <a:extLst xmlns:a="http://schemas.openxmlformats.org/drawingml/2006/main">
              <a:ext uri="{FF2B5EF4-FFF2-40B4-BE49-F238E27FC236}">
                <a16:creationId xmlns:a16="http://schemas.microsoft.com/office/drawing/2014/main" id="{C67DD201-5DB7-48D1-8224-6D12946D1282}"/>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0" name="">
            <a:extLst xmlns:a="http://schemas.openxmlformats.org/drawingml/2006/main">
              <a:ext uri="{FF2B5EF4-FFF2-40B4-BE49-F238E27FC236}">
                <a16:creationId xmlns:a16="http://schemas.microsoft.com/office/drawing/2014/main" id="{AC09A200-6F03-47FA-82FC-42F1481E5C56}"/>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952BF67B-FA4A-4F37-B2BE-F976D9B9DB1E}"/>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Test</a:t>
            </a:r>
          </a:p>
        </p:txBody>
      </p:sp>
      <p:sp>
        <p:nvSpPr>
          <p:cNvPr id="22" name="">
            <a:extLst xmlns:a="http://schemas.openxmlformats.org/drawingml/2006/main">
              <a:ext uri="{FF2B5EF4-FFF2-40B4-BE49-F238E27FC236}">
                <a16:creationId xmlns:a16="http://schemas.microsoft.com/office/drawing/2014/main" id="{B3DEE590-3814-4EE0-B158-52B0CCE4DB97}"/>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Submit a test and confirm it arrives.</a:t>
            </a:r>
          </a:p>
        </p:txBody>
      </p:sp>
      <p:sp>
        <p:nvSpPr>
          <p:cNvPr id="23" name="">
            <a:extLst xmlns:a="http://schemas.openxmlformats.org/drawingml/2006/main">
              <a:ext uri="{FF2B5EF4-FFF2-40B4-BE49-F238E27FC236}">
                <a16:creationId xmlns:a16="http://schemas.microsoft.com/office/drawing/2014/main" id="{8F70594C-D29A-44CA-B538-38962E32CAC8}"/>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add Resend lead notifications</a:t>
            </a:r>
          </a:p>
        </p:txBody>
      </p:sp>
      <p:sp>
        <p:nvSpPr>
          <p:cNvPr id="24" name="">
            <a:extLst xmlns:a="http://schemas.openxmlformats.org/drawingml/2006/main">
              <a:ext uri="{FF2B5EF4-FFF2-40B4-BE49-F238E27FC236}">
                <a16:creationId xmlns:a16="http://schemas.microsoft.com/office/drawing/2014/main" id="{9069C20B-62CB-49EC-99D0-1943F47C7143}"/>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Connect my website form to Resend. Guide me through setup, then email new lead details to my own inbox. Add input checks and spam protection. Help me send a test and confirm it arrives.</a:t>
            </a:r>
          </a:p>
        </p:txBody>
      </p:sp>
    </p:spTree>
    <p:extLst>
      <p:ext uri="{BB962C8B-B14F-4D97-AF65-F5344CB8AC3E}">
        <p14:creationId xmlns:p14="http://schemas.microsoft.com/office/powerpoint/2010/main" val="2323099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C5F8668-641D-4B0D-BEC9-A0D2FD85DDFF}"/>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Let Grok Bot draft your lead replies</a:t>
            </a:r>
          </a:p>
        </p:txBody>
      </p:sp>
      <p:sp>
        <p:nvSpPr>
          <p:cNvPr id="2" name="">
            <a:extLst xmlns:a="http://schemas.openxmlformats.org/drawingml/2006/main">
              <a:ext uri="{FF2B5EF4-FFF2-40B4-BE49-F238E27FC236}">
                <a16:creationId xmlns:a16="http://schemas.microsoft.com/office/drawing/2014/main" id="{7B5E1178-EEDB-4F63-AA23-36563B92A69D}"/>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0E541A34-91B1-42DE-87BA-B7EB19AEF2AA}"/>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451163C4-4E02-490D-99AC-552D048A75FF}"/>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New inquiry → draft response → your review.</a:t>
            </a:r>
          </a:p>
        </p:txBody>
      </p:sp>
      <p:sp>
        <p:nvSpPr>
          <p:cNvPr id="5" name="">
            <a:extLst xmlns:a="http://schemas.openxmlformats.org/drawingml/2006/main">
              <a:ext uri="{FF2B5EF4-FFF2-40B4-BE49-F238E27FC236}">
                <a16:creationId xmlns:a16="http://schemas.microsoft.com/office/drawing/2014/main" id="{8EDAEB79-FFDC-43DB-981F-F0F2DB5733C2}"/>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A4BCE817-79CB-47B5-AFB0-782487F06572}"/>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3DFFA155-E501-43ED-9454-1939B7D975BE}"/>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355C87A8-E8FB-435D-9D61-BF2582D7EDCB}"/>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DRAFT / APPROVAL NEEDED</a:t>
            </a:r>
          </a:p>
        </p:txBody>
      </p:sp>
      <p:sp>
        <p:nvSpPr>
          <p:cNvPr id="9" name="">
            <a:extLst xmlns:a="http://schemas.openxmlformats.org/drawingml/2006/main">
              <a:ext uri="{FF2B5EF4-FFF2-40B4-BE49-F238E27FC236}">
                <a16:creationId xmlns:a16="http://schemas.microsoft.com/office/drawing/2014/main" id="{8C60D1D8-393C-440A-A8B9-B95F051EBA21}"/>
              </a:ext>
            </a:extLst>
          </p:cNvPr>
          <p:cNvSpPr>
            <a:spLocks xmlns:a="http://schemas.openxmlformats.org/drawingml/2006/main" noGrp="1"/>
          </p:cNvSpPr>
          <p:nvPr/>
        </p:nvSpPr>
        <p:spPr>
          <a:xfrm xmlns:a="http://schemas.openxmlformats.org/drawingml/2006/main">
            <a:off x="857250" y="274320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1318"/>
                </a:solidFill>
                <a:latin typeface="Helvetica Neue"/>
                <a:ea typeface="Helvetica Neue"/>
                <a:cs typeface="Helvetica Neue"/>
              </a:defRPr>
            </a:defPPr>
          </a:lstStyle>
          <a:p xmlns:a="http://schemas.openxmlformats.org/drawingml/2006/main">
            <a:pP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 personal reply</a:t>
            </a:r>
          </a:p>
        </p:txBody>
      </p:sp>
      <p:sp>
        <p:nvSpPr>
          <p:cNvPr id="10" name="">
            <a:extLst xmlns:a="http://schemas.openxmlformats.org/drawingml/2006/main">
              <a:ext uri="{FF2B5EF4-FFF2-40B4-BE49-F238E27FC236}">
                <a16:creationId xmlns:a16="http://schemas.microsoft.com/office/drawing/2014/main" id="{295D2681-4B1F-41D3-852F-EC54C24EADFB}"/>
              </a:ext>
            </a:extLst>
          </p:cNvPr>
          <p:cNvSpPr>
            <a:spLocks xmlns:a="http://schemas.openxmlformats.org/drawingml/2006/main" noGrp="1"/>
          </p:cNvSpPr>
          <p:nvPr/>
        </p:nvSpPr>
        <p:spPr>
          <a:xfrm xmlns:a="http://schemas.openxmlformats.org/drawingml/2006/main">
            <a:off x="85725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92037"/>
                </a:solidFill>
                <a:latin typeface="Helvetica Neue"/>
                <a:ea typeface="Helvetica Neue"/>
                <a:cs typeface="Helvetica Neue"/>
              </a:defRPr>
            </a:defPPr>
          </a:lstStyle>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Thank them. Answer their question.</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Review before sending.</a:t>
            </a:r>
          </a:p>
        </p:txBody>
      </p:sp>
      <p:sp>
        <p:nvSpPr>
          <p:cNvPr id="11" name="">
            <a:extLst xmlns:a="http://schemas.openxmlformats.org/drawingml/2006/main">
              <a:ext uri="{FF2B5EF4-FFF2-40B4-BE49-F238E27FC236}">
                <a16:creationId xmlns:a16="http://schemas.microsoft.com/office/drawing/2014/main" id="{91E07A02-547E-4431-B92C-ABB4DA803695}"/>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601D849D-5943-4287-A22F-B32FCC9AC92F}"/>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66C96121-75A4-478F-BF0C-0D48EE8E6CA3}"/>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Connect</a:t>
            </a:r>
          </a:p>
        </p:txBody>
      </p:sp>
      <p:sp>
        <p:nvSpPr>
          <p:cNvPr id="14" name="">
            <a:extLst xmlns:a="http://schemas.openxmlformats.org/drawingml/2006/main">
              <a:ext uri="{FF2B5EF4-FFF2-40B4-BE49-F238E27FC236}">
                <a16:creationId xmlns:a16="http://schemas.microsoft.com/office/drawing/2014/main" id="{C827A4A5-0485-41E4-9FA6-380DC1F867E4}"/>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Give Grok Bot access to your lead inbox.</a:t>
            </a:r>
          </a:p>
        </p:txBody>
      </p:sp>
      <p:sp>
        <p:nvSpPr>
          <p:cNvPr id="15" name="">
            <a:extLst xmlns:a="http://schemas.openxmlformats.org/drawingml/2006/main">
              <a:ext uri="{FF2B5EF4-FFF2-40B4-BE49-F238E27FC236}">
                <a16:creationId xmlns:a16="http://schemas.microsoft.com/office/drawing/2014/main" id="{613A738E-405D-4B4B-A0D9-63774389C0D6}"/>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6" name="">
            <a:extLst xmlns:a="http://schemas.openxmlformats.org/drawingml/2006/main">
              <a:ext uri="{FF2B5EF4-FFF2-40B4-BE49-F238E27FC236}">
                <a16:creationId xmlns:a16="http://schemas.microsoft.com/office/drawing/2014/main" id="{50716FC0-828C-4B09-98B7-0B3E05E680C9}"/>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9688BC18-7F0F-4470-B72D-81FCBBB02DB8}"/>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Draft</a:t>
            </a:r>
          </a:p>
        </p:txBody>
      </p:sp>
      <p:sp>
        <p:nvSpPr>
          <p:cNvPr id="18" name="">
            <a:extLst xmlns:a="http://schemas.openxmlformats.org/drawingml/2006/main">
              <a:ext uri="{FF2B5EF4-FFF2-40B4-BE49-F238E27FC236}">
                <a16:creationId xmlns:a16="http://schemas.microsoft.com/office/drawing/2014/main" id="{09E3746C-A1EB-4495-9F1C-03392DEE4097}"/>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Use your offer and tone to write a useful reply.</a:t>
            </a:r>
          </a:p>
        </p:txBody>
      </p:sp>
      <p:sp>
        <p:nvSpPr>
          <p:cNvPr id="19" name="">
            <a:extLst xmlns:a="http://schemas.openxmlformats.org/drawingml/2006/main">
              <a:ext uri="{FF2B5EF4-FFF2-40B4-BE49-F238E27FC236}">
                <a16:creationId xmlns:a16="http://schemas.microsoft.com/office/drawing/2014/main" id="{7369A9FC-C4CD-44B1-8DC8-C97CACA2BE83}"/>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0" name="">
            <a:extLst xmlns:a="http://schemas.openxmlformats.org/drawingml/2006/main">
              <a:ext uri="{FF2B5EF4-FFF2-40B4-BE49-F238E27FC236}">
                <a16:creationId xmlns:a16="http://schemas.microsoft.com/office/drawing/2014/main" id="{0A117CBD-E69D-4062-A893-9A00F1B90C55}"/>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0BD3550A-E502-4272-83B5-5E717569F307}"/>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Review</a:t>
            </a:r>
          </a:p>
        </p:txBody>
      </p:sp>
      <p:sp>
        <p:nvSpPr>
          <p:cNvPr id="22" name="">
            <a:extLst xmlns:a="http://schemas.openxmlformats.org/drawingml/2006/main">
              <a:ext uri="{FF2B5EF4-FFF2-40B4-BE49-F238E27FC236}">
                <a16:creationId xmlns:a16="http://schemas.microsoft.com/office/drawing/2014/main" id="{5AD90E0A-B8DB-4EC4-917C-AD8958E07F36}"/>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Approve the draft before it is sent.</a:t>
            </a:r>
          </a:p>
        </p:txBody>
      </p:sp>
      <p:sp>
        <p:nvSpPr>
          <p:cNvPr id="23" name="">
            <a:extLst xmlns:a="http://schemas.openxmlformats.org/drawingml/2006/main">
              <a:ext uri="{FF2B5EF4-FFF2-40B4-BE49-F238E27FC236}">
                <a16:creationId xmlns:a16="http://schemas.microsoft.com/office/drawing/2014/main" id="{AA9AF991-55C8-4CC4-8A8A-80DCD33E0AC5}"/>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paste into Grok Bot</a:t>
            </a:r>
          </a:p>
        </p:txBody>
      </p:sp>
      <p:sp>
        <p:nvSpPr>
          <p:cNvPr id="24" name="">
            <a:extLst xmlns:a="http://schemas.openxmlformats.org/drawingml/2006/main">
              <a:ext uri="{FF2B5EF4-FFF2-40B4-BE49-F238E27FC236}">
                <a16:creationId xmlns:a16="http://schemas.microsoft.com/office/drawing/2014/main" id="{6A665B1B-3D4F-426D-A26B-BEC1ED85EF7E}"/>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Help me set up Grok Bot to watch for new leads and draft a useful, personal reply. Test one sample first, then save the routine. Notify me when a draft is ready. Send only after I approve.</a:t>
            </a:r>
          </a:p>
        </p:txBody>
      </p:sp>
    </p:spTree>
    <p:extLst>
      <p:ext uri="{BB962C8B-B14F-4D97-AF65-F5344CB8AC3E}">
        <p14:creationId xmlns:p14="http://schemas.microsoft.com/office/powerpoint/2010/main" val="18772546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ADF0BA-2D0D-4CBA-A087-530F79A10457}"/>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Test the customer’s next step</a:t>
            </a:r>
          </a:p>
        </p:txBody>
      </p:sp>
      <p:sp>
        <p:nvSpPr>
          <p:cNvPr id="2" name="">
            <a:extLst xmlns:a="http://schemas.openxmlformats.org/drawingml/2006/main">
              <a:ext uri="{FF2B5EF4-FFF2-40B4-BE49-F238E27FC236}">
                <a16:creationId xmlns:a16="http://schemas.microsoft.com/office/drawing/2014/main" id="{B571534A-6091-4C53-80D4-D7BE8EF99174}"/>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A225F45E-DD83-417A-882F-B6D94BDA61B7}"/>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383A971-4862-418B-942C-D10F09D580C5}"/>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Click your main button and check where it leads.</a:t>
            </a:r>
          </a:p>
        </p:txBody>
      </p:sp>
      <p:sp>
        <p:nvSpPr>
          <p:cNvPr id="5" name="">
            <a:extLst xmlns:a="http://schemas.openxmlformats.org/drawingml/2006/main">
              <a:ext uri="{FF2B5EF4-FFF2-40B4-BE49-F238E27FC236}">
                <a16:creationId xmlns:a16="http://schemas.microsoft.com/office/drawing/2014/main" id="{F7349041-A598-4921-BB98-20AE2471FC9A}"/>
              </a:ext>
            </a:extLst>
          </p:cNvPr>
          <p:cNvSpPr>
            <a:spLocks xmlns:a="http://schemas.openxmlformats.org/drawingml/2006/main" noGrp="1"/>
          </p:cNvSpPr>
          <p:nvPr/>
        </p:nvSpPr>
        <p:spPr>
          <a:xfrm xmlns:a="http://schemas.openxmlformats.org/drawingml/2006/main">
            <a:off x="66675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6" name="">
            <a:extLst xmlns:a="http://schemas.openxmlformats.org/drawingml/2006/main">
              <a:ext uri="{FF2B5EF4-FFF2-40B4-BE49-F238E27FC236}">
                <a16:creationId xmlns:a16="http://schemas.microsoft.com/office/drawing/2014/main" id="{46F9CBC9-6B8B-4DD9-9559-7579634F316C}"/>
              </a:ext>
            </a:extLst>
          </p:cNvPr>
          <p:cNvSpPr>
            <a:spLocks xmlns:a="http://schemas.openxmlformats.org/drawingml/2006/main" noGrp="1"/>
          </p:cNvSpPr>
          <p:nvPr/>
        </p:nvSpPr>
        <p:spPr>
          <a:xfrm xmlns:a="http://schemas.openxmlformats.org/drawingml/2006/main">
            <a:off x="66675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D2B76F6-287F-4B02-B6D4-FF10F5EB01A8}"/>
              </a:ext>
            </a:extLst>
          </p:cNvPr>
          <p:cNvSpPr>
            <a:spLocks xmlns:a="http://schemas.openxmlformats.org/drawingml/2006/main" noGrp="1"/>
          </p:cNvSpPr>
          <p:nvPr/>
        </p:nvSpPr>
        <p:spPr>
          <a:xfrm xmlns:a="http://schemas.openxmlformats.org/drawingml/2006/main">
            <a:off x="66675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Click</a:t>
            </a:r>
          </a:p>
        </p:txBody>
      </p:sp>
      <p:sp>
        <p:nvSpPr>
          <p:cNvPr id="8" name="">
            <a:extLst xmlns:a="http://schemas.openxmlformats.org/drawingml/2006/main">
              <a:ext uri="{FF2B5EF4-FFF2-40B4-BE49-F238E27FC236}">
                <a16:creationId xmlns:a16="http://schemas.microsoft.com/office/drawing/2014/main" id="{29C03572-52C8-45A2-A743-4884E1897729}"/>
              </a:ext>
            </a:extLst>
          </p:cNvPr>
          <p:cNvSpPr>
            <a:spLocks xmlns:a="http://schemas.openxmlformats.org/drawingml/2006/main" noGrp="1"/>
          </p:cNvSpPr>
          <p:nvPr/>
        </p:nvSpPr>
        <p:spPr>
          <a:xfrm xmlns:a="http://schemas.openxmlformats.org/drawingml/2006/main">
            <a:off x="66675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Does the button open the right place?</a:t>
            </a:r>
          </a:p>
        </p:txBody>
      </p:sp>
      <p:sp>
        <p:nvSpPr>
          <p:cNvPr id="9" name="">
            <a:extLst xmlns:a="http://schemas.openxmlformats.org/drawingml/2006/main">
              <a:ext uri="{FF2B5EF4-FFF2-40B4-BE49-F238E27FC236}">
                <a16:creationId xmlns:a16="http://schemas.microsoft.com/office/drawing/2014/main" id="{E240E06F-C500-4027-87A8-FF0429119742}"/>
              </a:ext>
            </a:extLst>
          </p:cNvPr>
          <p:cNvSpPr>
            <a:spLocks xmlns:a="http://schemas.openxmlformats.org/drawingml/2006/main" noGrp="1"/>
          </p:cNvSpPr>
          <p:nvPr/>
        </p:nvSpPr>
        <p:spPr>
          <a:xfrm xmlns:a="http://schemas.openxmlformats.org/drawingml/2006/main">
            <a:off x="4333875"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0" name="">
            <a:extLst xmlns:a="http://schemas.openxmlformats.org/drawingml/2006/main">
              <a:ext uri="{FF2B5EF4-FFF2-40B4-BE49-F238E27FC236}">
                <a16:creationId xmlns:a16="http://schemas.microsoft.com/office/drawing/2014/main" id="{5A6CCF1C-3B51-49B7-8A7B-497800A5A02B}"/>
              </a:ext>
            </a:extLst>
          </p:cNvPr>
          <p:cNvSpPr>
            <a:spLocks xmlns:a="http://schemas.openxmlformats.org/drawingml/2006/main" noGrp="1"/>
          </p:cNvSpPr>
          <p:nvPr/>
        </p:nvSpPr>
        <p:spPr>
          <a:xfrm xmlns:a="http://schemas.openxmlformats.org/drawingml/2006/main">
            <a:off x="4333875"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EC5E140-62A8-4B19-835B-B9A9928A6E8A}"/>
              </a:ext>
            </a:extLst>
          </p:cNvPr>
          <p:cNvSpPr>
            <a:spLocks xmlns:a="http://schemas.openxmlformats.org/drawingml/2006/main" noGrp="1"/>
          </p:cNvSpPr>
          <p:nvPr/>
        </p:nvSpPr>
        <p:spPr>
          <a:xfrm xmlns:a="http://schemas.openxmlformats.org/drawingml/2006/main">
            <a:off x="4333875"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Check</a:t>
            </a:r>
          </a:p>
        </p:txBody>
      </p:sp>
      <p:sp>
        <p:nvSpPr>
          <p:cNvPr id="12" name="">
            <a:extLst xmlns:a="http://schemas.openxmlformats.org/drawingml/2006/main">
              <a:ext uri="{FF2B5EF4-FFF2-40B4-BE49-F238E27FC236}">
                <a16:creationId xmlns:a16="http://schemas.microsoft.com/office/drawing/2014/main" id="{8A1F8449-C895-4AB8-92B9-1647CE78D0DA}"/>
              </a:ext>
            </a:extLst>
          </p:cNvPr>
          <p:cNvSpPr>
            <a:spLocks xmlns:a="http://schemas.openxmlformats.org/drawingml/2006/main" noGrp="1"/>
          </p:cNvSpPr>
          <p:nvPr/>
        </p:nvSpPr>
        <p:spPr>
          <a:xfrm xmlns:a="http://schemas.openxmlformats.org/drawingml/2006/main">
            <a:off x="4333875"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Does a message or booking actually arrive?</a:t>
            </a:r>
          </a:p>
        </p:txBody>
      </p:sp>
      <p:sp>
        <p:nvSpPr>
          <p:cNvPr id="13" name="">
            <a:extLst xmlns:a="http://schemas.openxmlformats.org/drawingml/2006/main">
              <a:ext uri="{FF2B5EF4-FFF2-40B4-BE49-F238E27FC236}">
                <a16:creationId xmlns:a16="http://schemas.microsoft.com/office/drawing/2014/main" id="{1FF7FBDC-2CC9-42AF-865C-17129A00EC98}"/>
              </a:ext>
            </a:extLst>
          </p:cNvPr>
          <p:cNvSpPr>
            <a:spLocks xmlns:a="http://schemas.openxmlformats.org/drawingml/2006/main" noGrp="1"/>
          </p:cNvSpPr>
          <p:nvPr/>
        </p:nvSpPr>
        <p:spPr>
          <a:xfrm xmlns:a="http://schemas.openxmlformats.org/drawingml/2006/main">
            <a:off x="800100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4" name="">
            <a:extLst xmlns:a="http://schemas.openxmlformats.org/drawingml/2006/main">
              <a:ext uri="{FF2B5EF4-FFF2-40B4-BE49-F238E27FC236}">
                <a16:creationId xmlns:a16="http://schemas.microsoft.com/office/drawing/2014/main" id="{58003C3E-AC1A-491A-B264-28C76CB08932}"/>
              </a:ext>
            </a:extLst>
          </p:cNvPr>
          <p:cNvSpPr>
            <a:spLocks xmlns:a="http://schemas.openxmlformats.org/drawingml/2006/main" noGrp="1"/>
          </p:cNvSpPr>
          <p:nvPr/>
        </p:nvSpPr>
        <p:spPr>
          <a:xfrm xmlns:a="http://schemas.openxmlformats.org/drawingml/2006/main">
            <a:off x="800100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BE31170E-5C3D-4CDC-A593-CD0230EF4311}"/>
              </a:ext>
            </a:extLst>
          </p:cNvPr>
          <p:cNvSpPr>
            <a:spLocks xmlns:a="http://schemas.openxmlformats.org/drawingml/2006/main" noGrp="1"/>
          </p:cNvSpPr>
          <p:nvPr/>
        </p:nvSpPr>
        <p:spPr>
          <a:xfrm xmlns:a="http://schemas.openxmlformats.org/drawingml/2006/main">
            <a:off x="800100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Reply</a:t>
            </a:r>
          </a:p>
        </p:txBody>
      </p:sp>
      <p:sp>
        <p:nvSpPr>
          <p:cNvPr id="16" name="">
            <a:extLst xmlns:a="http://schemas.openxmlformats.org/drawingml/2006/main">
              <a:ext uri="{FF2B5EF4-FFF2-40B4-BE49-F238E27FC236}">
                <a16:creationId xmlns:a16="http://schemas.microsoft.com/office/drawing/2014/main" id="{92A7C6A5-E6C7-4E3D-805B-C195F5B09AAD}"/>
              </a:ext>
            </a:extLst>
          </p:cNvPr>
          <p:cNvSpPr>
            <a:spLocks xmlns:a="http://schemas.openxmlformats.org/drawingml/2006/main" noGrp="1"/>
          </p:cNvSpPr>
          <p:nvPr/>
        </p:nvSpPr>
        <p:spPr>
          <a:xfrm xmlns:a="http://schemas.openxmlformats.org/drawingml/2006/main">
            <a:off x="800100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Who will respond to the customer?</a:t>
            </a:r>
          </a:p>
        </p:txBody>
      </p:sp>
      <p:sp>
        <p:nvSpPr>
          <p:cNvPr id="17" name="">
            <a:extLst xmlns:a="http://schemas.openxmlformats.org/drawingml/2006/main">
              <a:ext uri="{FF2B5EF4-FFF2-40B4-BE49-F238E27FC236}">
                <a16:creationId xmlns:a16="http://schemas.microsoft.com/office/drawing/2014/main" id="{B3E8D27E-431B-4198-BF81-8FD2279B2A75}"/>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check contact and draft social text</a:t>
            </a:r>
          </a:p>
        </p:txBody>
      </p:sp>
      <p:sp>
        <p:nvSpPr>
          <p:cNvPr id="18" name="">
            <a:extLst xmlns:a="http://schemas.openxmlformats.org/drawingml/2006/main">
              <a:ext uri="{FF2B5EF4-FFF2-40B4-BE49-F238E27FC236}">
                <a16:creationId xmlns:a16="http://schemas.microsoft.com/office/drawing/2014/main" id="{7CD80BA6-B40A-40D9-9FA2-AB5909E6714B}"/>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Help me check my main contact button. Does it lead to the right phone number, email, or booking page? If I use a form, ask before sending a test and confirm the message arrives. Then draft a short social profile bio using the same offer as my website. Show me the draft. Do not post it or change my accounts.</a:t>
            </a:r>
          </a:p>
        </p:txBody>
      </p:sp>
    </p:spTree>
    <p:extLst>
      <p:ext uri="{BB962C8B-B14F-4D97-AF65-F5344CB8AC3E}">
        <p14:creationId xmlns:p14="http://schemas.microsoft.com/office/powerpoint/2010/main" val="13474788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A33310-BDD7-45B2-AA86-B0E8F8BF98A6}"/>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Choose your next step</a:t>
            </a:r>
          </a:p>
        </p:txBody>
      </p:sp>
      <p:sp>
        <p:nvSpPr>
          <p:cNvPr id="2" name="">
            <a:extLst xmlns:a="http://schemas.openxmlformats.org/drawingml/2006/main">
              <a:ext uri="{FF2B5EF4-FFF2-40B4-BE49-F238E27FC236}">
                <a16:creationId xmlns:a16="http://schemas.microsoft.com/office/drawing/2014/main" id="{990E14A8-082E-42F5-9818-5D275DC549F3}"/>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D3E5C253-F470-4882-BF06-BDB10C160CB8}"/>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D5290644-A7DD-4D31-88DA-E17EEE0A4E3E}"/>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Leave with one small action you can finish this week.</a:t>
            </a:r>
          </a:p>
        </p:txBody>
      </p:sp>
      <p:sp>
        <p:nvSpPr>
          <p:cNvPr id="5" name="">
            <a:extLst xmlns:a="http://schemas.openxmlformats.org/drawingml/2006/main">
              <a:ext uri="{FF2B5EF4-FFF2-40B4-BE49-F238E27FC236}">
                <a16:creationId xmlns:a16="http://schemas.microsoft.com/office/drawing/2014/main" id="{89B8A9A4-61C2-4F02-A9A1-7A52F38BC3B1}"/>
              </a:ext>
            </a:extLst>
          </p:cNvPr>
          <p:cNvSpPr>
            <a:spLocks xmlns:a="http://schemas.openxmlformats.org/drawingml/2006/main" noGrp="1"/>
          </p:cNvSpPr>
          <p:nvPr/>
        </p:nvSpPr>
        <p:spPr>
          <a:xfrm xmlns:a="http://schemas.openxmlformats.org/drawingml/2006/main">
            <a:off x="66675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6" name="">
            <a:extLst xmlns:a="http://schemas.openxmlformats.org/drawingml/2006/main">
              <a:ext uri="{FF2B5EF4-FFF2-40B4-BE49-F238E27FC236}">
                <a16:creationId xmlns:a16="http://schemas.microsoft.com/office/drawing/2014/main" id="{A93D8E19-D184-4D74-8501-D840AC093F60}"/>
              </a:ext>
            </a:extLst>
          </p:cNvPr>
          <p:cNvSpPr>
            <a:spLocks xmlns:a="http://schemas.openxmlformats.org/drawingml/2006/main" noGrp="1"/>
          </p:cNvSpPr>
          <p:nvPr/>
        </p:nvSpPr>
        <p:spPr>
          <a:xfrm xmlns:a="http://schemas.openxmlformats.org/drawingml/2006/main">
            <a:off x="66675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A48AA17-B46F-44F8-B908-5442AB63D670}"/>
              </a:ext>
            </a:extLst>
          </p:cNvPr>
          <p:cNvSpPr>
            <a:spLocks xmlns:a="http://schemas.openxmlformats.org/drawingml/2006/main" noGrp="1"/>
          </p:cNvSpPr>
          <p:nvPr/>
        </p:nvSpPr>
        <p:spPr>
          <a:xfrm xmlns:a="http://schemas.openxmlformats.org/drawingml/2006/main">
            <a:off x="66675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Finish</a:t>
            </a:r>
          </a:p>
        </p:txBody>
      </p:sp>
      <p:sp>
        <p:nvSpPr>
          <p:cNvPr id="8" name="">
            <a:extLst xmlns:a="http://schemas.openxmlformats.org/drawingml/2006/main">
              <a:ext uri="{FF2B5EF4-FFF2-40B4-BE49-F238E27FC236}">
                <a16:creationId xmlns:a16="http://schemas.microsoft.com/office/drawing/2014/main" id="{C9A3C03C-5B75-4A62-8504-A70F72D25D15}"/>
              </a:ext>
            </a:extLst>
          </p:cNvPr>
          <p:cNvSpPr>
            <a:spLocks xmlns:a="http://schemas.openxmlformats.org/drawingml/2006/main" noGrp="1"/>
          </p:cNvSpPr>
          <p:nvPr/>
        </p:nvSpPr>
        <p:spPr>
          <a:xfrm xmlns:a="http://schemas.openxmlformats.org/drawingml/2006/main">
            <a:off x="66675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Fix anything that stops a customer contacting you.</a:t>
            </a:r>
          </a:p>
        </p:txBody>
      </p:sp>
      <p:sp>
        <p:nvSpPr>
          <p:cNvPr id="9" name="">
            <a:extLst xmlns:a="http://schemas.openxmlformats.org/drawingml/2006/main">
              <a:ext uri="{FF2B5EF4-FFF2-40B4-BE49-F238E27FC236}">
                <a16:creationId xmlns:a16="http://schemas.microsoft.com/office/drawing/2014/main" id="{D599CCE0-0E78-4859-A677-137ED7631A1B}"/>
              </a:ext>
            </a:extLst>
          </p:cNvPr>
          <p:cNvSpPr>
            <a:spLocks xmlns:a="http://schemas.openxmlformats.org/drawingml/2006/main" noGrp="1"/>
          </p:cNvSpPr>
          <p:nvPr/>
        </p:nvSpPr>
        <p:spPr>
          <a:xfrm xmlns:a="http://schemas.openxmlformats.org/drawingml/2006/main">
            <a:off x="4333875"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0" name="">
            <a:extLst xmlns:a="http://schemas.openxmlformats.org/drawingml/2006/main">
              <a:ext uri="{FF2B5EF4-FFF2-40B4-BE49-F238E27FC236}">
                <a16:creationId xmlns:a16="http://schemas.microsoft.com/office/drawing/2014/main" id="{B1D2DFA9-483E-4EA9-B3E0-DD818B6A204B}"/>
              </a:ext>
            </a:extLst>
          </p:cNvPr>
          <p:cNvSpPr>
            <a:spLocks xmlns:a="http://schemas.openxmlformats.org/drawingml/2006/main" noGrp="1"/>
          </p:cNvSpPr>
          <p:nvPr/>
        </p:nvSpPr>
        <p:spPr>
          <a:xfrm xmlns:a="http://schemas.openxmlformats.org/drawingml/2006/main">
            <a:off x="4333875"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A8BDA86-8650-4E05-B780-DAA68B2D1462}"/>
              </a:ext>
            </a:extLst>
          </p:cNvPr>
          <p:cNvSpPr>
            <a:spLocks xmlns:a="http://schemas.openxmlformats.org/drawingml/2006/main" noGrp="1"/>
          </p:cNvSpPr>
          <p:nvPr/>
        </p:nvSpPr>
        <p:spPr>
          <a:xfrm xmlns:a="http://schemas.openxmlformats.org/drawingml/2006/main">
            <a:off x="4333875"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Ask</a:t>
            </a:r>
          </a:p>
        </p:txBody>
      </p:sp>
      <p:sp>
        <p:nvSpPr>
          <p:cNvPr id="12" name="">
            <a:extLst xmlns:a="http://schemas.openxmlformats.org/drawingml/2006/main">
              <a:ext uri="{FF2B5EF4-FFF2-40B4-BE49-F238E27FC236}">
                <a16:creationId xmlns:a16="http://schemas.microsoft.com/office/drawing/2014/main" id="{C303B318-44C7-47AF-942A-6CE9E9BE336B}"/>
              </a:ext>
            </a:extLst>
          </p:cNvPr>
          <p:cNvSpPr>
            <a:spLocks xmlns:a="http://schemas.openxmlformats.org/drawingml/2006/main" noGrp="1"/>
          </p:cNvSpPr>
          <p:nvPr/>
        </p:nvSpPr>
        <p:spPr>
          <a:xfrm xmlns:a="http://schemas.openxmlformats.org/drawingml/2006/main">
            <a:off x="4333875"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Show the page to three potential customers.</a:t>
            </a:r>
          </a:p>
        </p:txBody>
      </p:sp>
      <p:sp>
        <p:nvSpPr>
          <p:cNvPr id="13" name="">
            <a:extLst xmlns:a="http://schemas.openxmlformats.org/drawingml/2006/main">
              <a:ext uri="{FF2B5EF4-FFF2-40B4-BE49-F238E27FC236}">
                <a16:creationId xmlns:a16="http://schemas.microsoft.com/office/drawing/2014/main" id="{793E0229-38BA-44FC-82AA-03B078B6A975}"/>
              </a:ext>
            </a:extLst>
          </p:cNvPr>
          <p:cNvSpPr>
            <a:spLocks xmlns:a="http://schemas.openxmlformats.org/drawingml/2006/main" noGrp="1"/>
          </p:cNvSpPr>
          <p:nvPr/>
        </p:nvSpPr>
        <p:spPr>
          <a:xfrm xmlns:a="http://schemas.openxmlformats.org/drawingml/2006/main">
            <a:off x="8001000" y="2095500"/>
            <a:ext cx="3333750" cy="1905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4" name="">
            <a:extLst xmlns:a="http://schemas.openxmlformats.org/drawingml/2006/main">
              <a:ext uri="{FF2B5EF4-FFF2-40B4-BE49-F238E27FC236}">
                <a16:creationId xmlns:a16="http://schemas.microsoft.com/office/drawing/2014/main" id="{66E483DF-D573-47C6-BFDC-B9D9903F3CE2}"/>
              </a:ext>
            </a:extLst>
          </p:cNvPr>
          <p:cNvSpPr>
            <a:spLocks xmlns:a="http://schemas.openxmlformats.org/drawingml/2006/main" noGrp="1"/>
          </p:cNvSpPr>
          <p:nvPr/>
        </p:nvSpPr>
        <p:spPr>
          <a:xfrm xmlns:a="http://schemas.openxmlformats.org/drawingml/2006/main">
            <a:off x="8001000" y="2257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3E55CA"/>
                </a:solidFill>
                <a:latin typeface="Helvetica Neue"/>
                <a:ea typeface="Helvetica Neue"/>
                <a:cs typeface="Helvetica Neue"/>
              </a:defRPr>
            </a:defPPr>
          </a:lstStyle>
          <a:p xmlns:a="http://schemas.openxmlformats.org/drawingml/2006/main">
            <a:pPr>
              <a:defRPr sz="3150" b="0">
                <a:solidFill>
                  <a:srgbClr val="3E55CA"/>
                </a:solidFill>
                <a:latin typeface="Helvetica Neue"/>
                <a:ea typeface="Helvetica Neue"/>
                <a:cs typeface="Helvetica Neue"/>
              </a:defRPr>
            </a:pPr>
            <a:r>
              <a:rPr sz="3150" b="0">
                <a:solidFill>
                  <a:srgbClr val="3E55CA"/>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1B73880E-E047-466C-9F42-D5DF49A54183}"/>
              </a:ext>
            </a:extLst>
          </p:cNvPr>
          <p:cNvSpPr>
            <a:spLocks xmlns:a="http://schemas.openxmlformats.org/drawingml/2006/main" noGrp="1"/>
          </p:cNvSpPr>
          <p:nvPr/>
        </p:nvSpPr>
        <p:spPr>
          <a:xfrm xmlns:a="http://schemas.openxmlformats.org/drawingml/2006/main">
            <a:off x="8001000" y="28003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1318"/>
                </a:solidFill>
                <a:latin typeface="Helvetica Neue"/>
                <a:ea typeface="Helvetica Neue"/>
                <a:cs typeface="Helvetica Neue"/>
              </a:defRPr>
            </a:defPPr>
          </a:lstStyle>
          <a:p xmlns:a="http://schemas.openxmlformats.org/drawingml/2006/main">
            <a:pP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Improve</a:t>
            </a:r>
          </a:p>
        </p:txBody>
      </p:sp>
      <p:sp>
        <p:nvSpPr>
          <p:cNvPr id="16" name="">
            <a:extLst xmlns:a="http://schemas.openxmlformats.org/drawingml/2006/main">
              <a:ext uri="{FF2B5EF4-FFF2-40B4-BE49-F238E27FC236}">
                <a16:creationId xmlns:a16="http://schemas.microsoft.com/office/drawing/2014/main" id="{211E634F-5F10-41D4-8E46-DE52AEBF3F43}"/>
              </a:ext>
            </a:extLst>
          </p:cNvPr>
          <p:cNvSpPr>
            <a:spLocks xmlns:a="http://schemas.openxmlformats.org/drawingml/2006/main" noGrp="1"/>
          </p:cNvSpPr>
          <p:nvPr/>
        </p:nvSpPr>
        <p:spPr>
          <a:xfrm xmlns:a="http://schemas.openxmlformats.org/drawingml/2006/main">
            <a:off x="8001000" y="34671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92037"/>
                </a:solidFill>
                <a:latin typeface="Helvetica Neue"/>
                <a:ea typeface="Helvetica Neue"/>
                <a:cs typeface="Helvetica Neue"/>
              </a:defRPr>
            </a:defPPr>
          </a:lstStyle>
          <a:p xmlns:a="http://schemas.openxmlformats.org/drawingml/2006/main">
            <a:pPr>
              <a:defRPr sz="1650" b="0">
                <a:solidFill>
                  <a:srgbClr val="192037"/>
                </a:solidFill>
                <a:latin typeface="Helvetica Neue"/>
                <a:ea typeface="Helvetica Neue"/>
                <a:cs typeface="Helvetica Neue"/>
              </a:defRPr>
            </a:pPr>
            <a:r>
              <a:rPr sz="1650" b="0">
                <a:solidFill>
                  <a:srgbClr val="192037"/>
                </a:solidFill>
                <a:latin typeface="Helvetica Neue"/>
                <a:ea typeface="Helvetica Neue"/>
                <a:cs typeface="Helvetica Neue"/>
              </a:rPr>
              <a:t>Change one thing they find confusing.</a:t>
            </a:r>
          </a:p>
        </p:txBody>
      </p:sp>
      <p:sp>
        <p:nvSpPr>
          <p:cNvPr id="17" name="">
            <a:extLst xmlns:a="http://schemas.openxmlformats.org/drawingml/2006/main">
              <a:ext uri="{FF2B5EF4-FFF2-40B4-BE49-F238E27FC236}">
                <a16:creationId xmlns:a16="http://schemas.microsoft.com/office/drawing/2014/main" id="{8129F537-ED21-4C03-B343-225210D72C95}"/>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plan your next week</a:t>
            </a:r>
          </a:p>
        </p:txBody>
      </p:sp>
      <p:sp>
        <p:nvSpPr>
          <p:cNvPr id="18" name="">
            <a:extLst xmlns:a="http://schemas.openxmlformats.org/drawingml/2006/main">
              <a:ext uri="{FF2B5EF4-FFF2-40B4-BE49-F238E27FC236}">
                <a16:creationId xmlns:a16="http://schemas.microsoft.com/office/drawing/2014/main" id="{2DBA72A4-4E5D-4E25-8EAF-7608C2F7ECB3}"/>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Make a simple plan for my next seven days. Give me one small task per day. Start with unfinished website checks. Include one social profile update and feedback from three potential customers. Fit the plan around my available time. Explain how to reopen my project. Do not publish or change accounts.</a:t>
            </a:r>
          </a:p>
        </p:txBody>
      </p:sp>
    </p:spTree>
    <p:extLst>
      <p:ext uri="{BB962C8B-B14F-4D97-AF65-F5344CB8AC3E}">
        <p14:creationId xmlns:p14="http://schemas.microsoft.com/office/powerpoint/2010/main" val="4622390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F97D0A-146F-4037-B88C-E2253F136761}"/>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Create social graphics from your site</a:t>
            </a:r>
          </a:p>
        </p:txBody>
      </p:sp>
      <p:sp>
        <p:nvSpPr>
          <p:cNvPr id="2" name="">
            <a:extLst xmlns:a="http://schemas.openxmlformats.org/drawingml/2006/main">
              <a:ext uri="{FF2B5EF4-FFF2-40B4-BE49-F238E27FC236}">
                <a16:creationId xmlns:a16="http://schemas.microsoft.com/office/drawing/2014/main" id="{1BE1B68B-76EA-47C1-B4BE-6896026286D6}"/>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F4411F77-10DC-47FC-85AF-0F58B62379F2}"/>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9C07E3F-7748-4A34-A81F-78A538F63BDA}"/>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Keep your website’s look and offer. Choose where to share it.</a:t>
            </a:r>
          </a:p>
        </p:txBody>
      </p:sp>
      <p:sp>
        <p:nvSpPr>
          <p:cNvPr id="5" name="">
            <a:extLst xmlns:a="http://schemas.openxmlformats.org/drawingml/2006/main">
              <a:ext uri="{FF2B5EF4-FFF2-40B4-BE49-F238E27FC236}">
                <a16:creationId xmlns:a16="http://schemas.microsoft.com/office/drawing/2014/main" id="{06780B36-CBCA-410B-B358-540201464F42}"/>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D8CC7666-D985-4585-AB0D-A683C616BC86}"/>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AFC6E02E-25FF-4451-8AC6-6CBF6B5BBAE1}"/>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Social graphic · example</a:t>
            </a:r>
          </a:p>
        </p:txBody>
      </p:sp>
      <p:sp>
        <p:nvSpPr>
          <p:cNvPr id="8" name="">
            <a:extLst xmlns:a="http://schemas.openxmlformats.org/drawingml/2006/main">
              <a:ext uri="{FF2B5EF4-FFF2-40B4-BE49-F238E27FC236}">
                <a16:creationId xmlns:a16="http://schemas.microsoft.com/office/drawing/2014/main" id="{95C2B6BB-0B61-46C4-8B59-82CD88314800}"/>
              </a:ext>
            </a:extLst>
          </p:cNvPr>
          <p:cNvSpPr>
            <a:spLocks xmlns:a="http://schemas.openxmlformats.org/drawingml/2006/main" noGrp="1"/>
          </p:cNvSpPr>
          <p:nvPr/>
        </p:nvSpPr>
        <p:spPr>
          <a:xfrm xmlns:a="http://schemas.openxmlformats.org/drawingml/2006/main">
            <a:off x="857250" y="2381250"/>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11318"/>
                </a:solidFill>
                <a:latin typeface="Helvetica Neue"/>
                <a:ea typeface="Helvetica Neue"/>
                <a:cs typeface="Helvetica Neue"/>
              </a:defRPr>
            </a:defPPr>
          </a:lstStyle>
          <a:p xmlns:a="http://schemas.openxmlformats.org/drawingml/2006/main">
            <a:pP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YOUR WEBSITE / YOUR BRAND</a:t>
            </a:r>
          </a:p>
        </p:txBody>
      </p:sp>
      <p:sp>
        <p:nvSpPr>
          <p:cNvPr id="9" name="">
            <a:extLst xmlns:a="http://schemas.openxmlformats.org/drawingml/2006/main">
              <a:ext uri="{FF2B5EF4-FFF2-40B4-BE49-F238E27FC236}">
                <a16:creationId xmlns:a16="http://schemas.microsoft.com/office/drawing/2014/main" id="{7C72D97D-0E20-4405-AEB8-5C5CE162DEFA}"/>
              </a:ext>
            </a:extLst>
          </p:cNvPr>
          <p:cNvSpPr>
            <a:spLocks xmlns:a="http://schemas.openxmlformats.org/drawingml/2006/main" noGrp="1"/>
          </p:cNvSpPr>
          <p:nvPr/>
        </p:nvSpPr>
        <p:spPr>
          <a:xfrm xmlns:a="http://schemas.openxmlformats.org/drawingml/2006/main">
            <a:off x="857250" y="2686050"/>
            <a:ext cx="1143000" cy="1143000"/>
          </a:xfrm>
          <a:prstGeom xmlns:a="http://schemas.openxmlformats.org/drawingml/2006/main" prst="rect">
            <a:avLst/>
          </a:prstGeom>
          <a:solidFill xmlns:a="http://schemas.openxmlformats.org/drawingml/2006/main">
            <a:srgbClr val="EDF0E8"/>
          </a:solidFill>
          <a:ln xmlns:a="http://schemas.openxmlformats.org/drawingml/2006/main" w="9525">
            <a:solidFill>
              <a:srgbClr val="D9DCE2"/>
            </a:solidFill>
          </a:ln>
        </p:spPr>
      </p:sp>
      <p:pic>
        <p:nvPicPr>
          <p:cNvPr id="10" name="">
            <a:extLst xmlns:a="http://schemas.openxmlformats.org/drawingml/2006/main">
              <a:ext uri="{FF2B5EF4-FFF2-40B4-BE49-F238E27FC236}">
                <a16:creationId xmlns:a16="http://schemas.microsoft.com/office/drawing/2014/main" id="{D10D9043-A96C-4294-B88C-BF785AF48C8D}"/>
              </a:ext>
            </a:extLst>
          </p:cNvPr>
          <p:cNvPicPr>
            <a:picLocks xmlns:a="http://schemas.openxmlformats.org/drawingml/2006/main" noChangeAspect="1"/>
          </p:cNvPicPr>
          <p:nvPr/>
        </p:nvPicPr>
        <p:blipFill>
          <a:blip xmlns:r="http://schemas.openxmlformats.org/officeDocument/2006/relationships" xmlns:a="http://schemas.openxmlformats.org/drawingml/2006/main" r:embed="R4c2b67e7ba17422f">
            <a:extLst>
              <a:ext uri="{96DAC541-7B7A-43D3-8B79-37D633B846F1}">
                <asvg:svgBlip xmlns:asvg="http://schemas.microsoft.com/office/drawing/2016/SVG/main" r:embed="Rc3f470bcaec5468c"/>
              </a:ext>
            </a:extLst>
          </a:blip>
          <a:stretch xmlns:a="http://schemas.openxmlformats.org/drawingml/2006/main"/>
        </p:blipFill>
        <p:spPr>
          <a:xfrm xmlns:a="http://schemas.openxmlformats.org/drawingml/2006/main">
            <a:off x="857250" y="2686050"/>
            <a:ext cx="1143000" cy="762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61018B1-DD8E-472B-9267-56F7BEFDE035}"/>
              </a:ext>
            </a:extLst>
          </p:cNvPr>
          <p:cNvSpPr>
            <a:spLocks xmlns:a="http://schemas.openxmlformats.org/drawingml/2006/main" noGrp="1"/>
          </p:cNvSpPr>
          <p:nvPr/>
        </p:nvSpPr>
        <p:spPr>
          <a:xfrm xmlns:a="http://schemas.openxmlformats.org/drawingml/2006/main">
            <a:off x="857250" y="3448050"/>
            <a:ext cx="1143000" cy="38100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27C39939-3484-47B2-8913-4C212470BB2D}"/>
              </a:ext>
            </a:extLst>
          </p:cNvPr>
          <p:cNvSpPr>
            <a:spLocks xmlns:a="http://schemas.openxmlformats.org/drawingml/2006/main" noGrp="1"/>
          </p:cNvSpPr>
          <p:nvPr/>
        </p:nvSpPr>
        <p:spPr>
          <a:xfrm xmlns:a="http://schemas.openxmlformats.org/drawingml/2006/main">
            <a:off x="904875" y="347662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FFFFFF"/>
                </a:solidFill>
                <a:latin typeface="Helvetica Neue"/>
                <a:ea typeface="Helvetica Neue"/>
                <a:cs typeface="Helvetica Neue"/>
              </a:defRPr>
            </a:defPPr>
          </a:lstStyle>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Clean home.</a:t>
            </a:r>
          </a:p>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Free weekend.</a:t>
            </a:r>
          </a:p>
        </p:txBody>
      </p:sp>
      <p:sp>
        <p:nvSpPr>
          <p:cNvPr id="13" name="">
            <a:extLst xmlns:a="http://schemas.openxmlformats.org/drawingml/2006/main">
              <a:ext uri="{FF2B5EF4-FFF2-40B4-BE49-F238E27FC236}">
                <a16:creationId xmlns:a16="http://schemas.microsoft.com/office/drawing/2014/main" id="{D0990751-A688-42C9-8E1F-0F69E17750F7}"/>
              </a:ext>
            </a:extLst>
          </p:cNvPr>
          <p:cNvSpPr>
            <a:spLocks xmlns:a="http://schemas.openxmlformats.org/drawingml/2006/main" noGrp="1"/>
          </p:cNvSpPr>
          <p:nvPr/>
        </p:nvSpPr>
        <p:spPr>
          <a:xfrm xmlns:a="http://schemas.openxmlformats.org/drawingml/2006/main">
            <a:off x="857250" y="39052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2037"/>
                </a:solidFill>
                <a:latin typeface="Helvetica Neue"/>
                <a:ea typeface="Helvetica Neue"/>
                <a:cs typeface="Helvetica Neue"/>
              </a:defRPr>
            </a:defPPr>
          </a:lstStyle>
          <a:p xmlns:a="http://schemas.openxmlformats.org/drawingml/2006/main">
            <a:pPr>
              <a:defRPr sz="1200" b="0">
                <a:solidFill>
                  <a:srgbClr val="192037"/>
                </a:solidFill>
                <a:latin typeface="Helvetica Neue"/>
                <a:ea typeface="Helvetica Neue"/>
                <a:cs typeface="Helvetica Neue"/>
              </a:defRPr>
            </a:pPr>
            <a:r>
              <a:rPr sz="1200" b="0">
                <a:solidFill>
                  <a:srgbClr val="192037"/>
                </a:solidFill>
                <a:latin typeface="Helvetica Neue"/>
                <a:ea typeface="Helvetica Neue"/>
                <a:cs typeface="Helvetica Neue"/>
              </a:rPr>
              <a:t>Square post</a:t>
            </a:r>
          </a:p>
        </p:txBody>
      </p:sp>
      <p:sp>
        <p:nvSpPr>
          <p:cNvPr id="14" name="">
            <a:extLst xmlns:a="http://schemas.openxmlformats.org/drawingml/2006/main">
              <a:ext uri="{FF2B5EF4-FFF2-40B4-BE49-F238E27FC236}">
                <a16:creationId xmlns:a16="http://schemas.microsoft.com/office/drawing/2014/main" id="{81D1B617-940C-4A7C-962B-C7781F3E2A24}"/>
              </a:ext>
            </a:extLst>
          </p:cNvPr>
          <p:cNvSpPr>
            <a:spLocks xmlns:a="http://schemas.openxmlformats.org/drawingml/2006/main" noGrp="1"/>
          </p:cNvSpPr>
          <p:nvPr/>
        </p:nvSpPr>
        <p:spPr>
          <a:xfrm xmlns:a="http://schemas.openxmlformats.org/drawingml/2006/main">
            <a:off x="2305050" y="2686050"/>
            <a:ext cx="647700" cy="1143000"/>
          </a:xfrm>
          <a:prstGeom xmlns:a="http://schemas.openxmlformats.org/drawingml/2006/main" prst="rect">
            <a:avLst/>
          </a:prstGeom>
          <a:solidFill xmlns:a="http://schemas.openxmlformats.org/drawingml/2006/main">
            <a:srgbClr val="EDF0E8"/>
          </a:solidFill>
          <a:ln xmlns:a="http://schemas.openxmlformats.org/drawingml/2006/main" w="9525">
            <a:solidFill>
              <a:srgbClr val="D9DCE2"/>
            </a:solidFill>
          </a:ln>
        </p:spPr>
      </p:sp>
      <p:pic>
        <p:nvPicPr>
          <p:cNvPr id="15" name="">
            <a:extLst xmlns:a="http://schemas.openxmlformats.org/drawingml/2006/main">
              <a:ext uri="{FF2B5EF4-FFF2-40B4-BE49-F238E27FC236}">
                <a16:creationId xmlns:a16="http://schemas.microsoft.com/office/drawing/2014/main" id="{CC7D5032-8E82-4E4F-ADDC-FCD075D06958}"/>
              </a:ext>
            </a:extLst>
          </p:cNvPr>
          <p:cNvPicPr>
            <a:picLocks xmlns:a="http://schemas.openxmlformats.org/drawingml/2006/main" noChangeAspect="1"/>
          </p:cNvPicPr>
          <p:nvPr/>
        </p:nvPicPr>
        <p:blipFill>
          <a:blip xmlns:r="http://schemas.openxmlformats.org/officeDocument/2006/relationships" xmlns:a="http://schemas.openxmlformats.org/drawingml/2006/main" r:embed="Re803c00e335c469b">
            <a:extLst>
              <a:ext uri="{96DAC541-7B7A-43D3-8B79-37D633B846F1}">
                <asvg:svgBlip xmlns:asvg="http://schemas.microsoft.com/office/drawing/2016/SVG/main" r:embed="R1e34a298de2f4d99"/>
              </a:ext>
            </a:extLst>
          </a:blip>
          <a:stretch xmlns:a="http://schemas.openxmlformats.org/drawingml/2006/main"/>
        </p:blipFill>
        <p:spPr>
          <a:xfrm xmlns:a="http://schemas.openxmlformats.org/drawingml/2006/main">
            <a:off x="2305050" y="2686050"/>
            <a:ext cx="647700" cy="7620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0A90B76-9F52-428B-88A3-C9F12730D366}"/>
              </a:ext>
            </a:extLst>
          </p:cNvPr>
          <p:cNvSpPr>
            <a:spLocks xmlns:a="http://schemas.openxmlformats.org/drawingml/2006/main" noGrp="1"/>
          </p:cNvSpPr>
          <p:nvPr/>
        </p:nvSpPr>
        <p:spPr>
          <a:xfrm xmlns:a="http://schemas.openxmlformats.org/drawingml/2006/main">
            <a:off x="2305050" y="3448050"/>
            <a:ext cx="647700" cy="381000"/>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7" name="">
            <a:extLst xmlns:a="http://schemas.openxmlformats.org/drawingml/2006/main">
              <a:ext uri="{FF2B5EF4-FFF2-40B4-BE49-F238E27FC236}">
                <a16:creationId xmlns:a16="http://schemas.microsoft.com/office/drawing/2014/main" id="{992D4DDA-F56C-43C7-A614-E3C4F16AF23E}"/>
              </a:ext>
            </a:extLst>
          </p:cNvPr>
          <p:cNvSpPr>
            <a:spLocks xmlns:a="http://schemas.openxmlformats.org/drawingml/2006/main" noGrp="1"/>
          </p:cNvSpPr>
          <p:nvPr/>
        </p:nvSpPr>
        <p:spPr>
          <a:xfrm xmlns:a="http://schemas.openxmlformats.org/drawingml/2006/main">
            <a:off x="2352675" y="3476625"/>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 b="1">
                <a:solidFill>
                  <a:srgbClr val="FFFFFF"/>
                </a:solidFill>
                <a:latin typeface="Helvetica Neue"/>
                <a:ea typeface="Helvetica Neue"/>
                <a:cs typeface="Helvetica Neue"/>
              </a:defRPr>
            </a:defPPr>
          </a:lstStyle>
          <a:p xmlns:a="http://schemas.openxmlformats.org/drawingml/2006/main">
            <a:pPr>
              <a:defRPr sz="600" b="1">
                <a:solidFill>
                  <a:srgbClr val="FFFFFF"/>
                </a:solidFill>
                <a:latin typeface="Helvetica Neue"/>
                <a:ea typeface="Helvetica Neue"/>
                <a:cs typeface="Helvetica Neue"/>
              </a:defRPr>
            </a:pPr>
            <a:r>
              <a:rPr sz="600" b="1">
                <a:solidFill>
                  <a:srgbClr val="FFFFFF"/>
                </a:solidFill>
                <a:latin typeface="Helvetica Neue"/>
                <a:ea typeface="Helvetica Neue"/>
                <a:cs typeface="Helvetica Neue"/>
              </a:rPr>
              <a:t>Clean.</a:t>
            </a:r>
          </a:p>
          <a:p xmlns:a="http://schemas.openxmlformats.org/drawingml/2006/main">
            <a:pPr>
              <a:defRPr sz="600" b="1">
                <a:solidFill>
                  <a:srgbClr val="FFFFFF"/>
                </a:solidFill>
                <a:latin typeface="Helvetica Neue"/>
                <a:ea typeface="Helvetica Neue"/>
                <a:cs typeface="Helvetica Neue"/>
              </a:defRPr>
            </a:pPr>
            <a:r>
              <a:rPr sz="600" b="1">
                <a:solidFill>
                  <a:srgbClr val="FFFFFF"/>
                </a:solidFill>
                <a:latin typeface="Helvetica Neue"/>
                <a:ea typeface="Helvetica Neue"/>
                <a:cs typeface="Helvetica Neue"/>
              </a:rPr>
              <a:t>Relax.</a:t>
            </a:r>
          </a:p>
        </p:txBody>
      </p:sp>
      <p:sp>
        <p:nvSpPr>
          <p:cNvPr id="18" name="">
            <a:extLst xmlns:a="http://schemas.openxmlformats.org/drawingml/2006/main">
              <a:ext uri="{FF2B5EF4-FFF2-40B4-BE49-F238E27FC236}">
                <a16:creationId xmlns:a16="http://schemas.microsoft.com/office/drawing/2014/main" id="{33944541-76F7-440F-9F66-BA9C68E24C83}"/>
              </a:ext>
            </a:extLst>
          </p:cNvPr>
          <p:cNvSpPr>
            <a:spLocks xmlns:a="http://schemas.openxmlformats.org/drawingml/2006/main" noGrp="1"/>
          </p:cNvSpPr>
          <p:nvPr/>
        </p:nvSpPr>
        <p:spPr>
          <a:xfrm xmlns:a="http://schemas.openxmlformats.org/drawingml/2006/main">
            <a:off x="2305050" y="39052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2037"/>
                </a:solidFill>
                <a:latin typeface="Helvetica Neue"/>
                <a:ea typeface="Helvetica Neue"/>
                <a:cs typeface="Helvetica Neue"/>
              </a:defRPr>
            </a:defPPr>
          </a:lstStyle>
          <a:p xmlns:a="http://schemas.openxmlformats.org/drawingml/2006/main">
            <a:pPr>
              <a:defRPr sz="1200" b="0">
                <a:solidFill>
                  <a:srgbClr val="192037"/>
                </a:solidFill>
                <a:latin typeface="Helvetica Neue"/>
                <a:ea typeface="Helvetica Neue"/>
                <a:cs typeface="Helvetica Neue"/>
              </a:defRPr>
            </a:pPr>
            <a:r>
              <a:rPr sz="1200" b="0">
                <a:solidFill>
                  <a:srgbClr val="192037"/>
                </a:solidFill>
                <a:latin typeface="Helvetica Neue"/>
                <a:ea typeface="Helvetica Neue"/>
                <a:cs typeface="Helvetica Neue"/>
              </a:rPr>
              <a:t>Story</a:t>
            </a:r>
          </a:p>
        </p:txBody>
      </p:sp>
      <p:sp>
        <p:nvSpPr>
          <p:cNvPr id="19" name="">
            <a:extLst xmlns:a="http://schemas.openxmlformats.org/drawingml/2006/main">
              <a:ext uri="{FF2B5EF4-FFF2-40B4-BE49-F238E27FC236}">
                <a16:creationId xmlns:a16="http://schemas.microsoft.com/office/drawing/2014/main" id="{FEA8C623-1BD3-4095-8444-AA673C5EF2EF}"/>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8350E9AA-386A-44DA-A882-B98C4BB81AA8}"/>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Choose platforms</a:t>
            </a:r>
          </a:p>
        </p:txBody>
      </p:sp>
      <p:sp>
        <p:nvSpPr>
          <p:cNvPr id="21" name="">
            <a:extLst xmlns:a="http://schemas.openxmlformats.org/drawingml/2006/main">
              <a:ext uri="{FF2B5EF4-FFF2-40B4-BE49-F238E27FC236}">
                <a16:creationId xmlns:a16="http://schemas.microsoft.com/office/drawing/2014/main" id="{15034F8D-1F10-4F91-A2C2-FB31006CF78F}"/>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Ask which platforms and post formats you want.</a:t>
            </a:r>
          </a:p>
        </p:txBody>
      </p:sp>
      <p:sp>
        <p:nvSpPr>
          <p:cNvPr id="22" name="">
            <a:extLst xmlns:a="http://schemas.openxmlformats.org/drawingml/2006/main">
              <a:ext uri="{FF2B5EF4-FFF2-40B4-BE49-F238E27FC236}">
                <a16:creationId xmlns:a16="http://schemas.microsoft.com/office/drawing/2014/main" id="{F4BEEE0E-B9C8-41D6-ACBF-E1626F754F7F}"/>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29E41577-A96E-4790-AA6A-502CEA6296B9}"/>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Match your site</a:t>
            </a:r>
          </a:p>
        </p:txBody>
      </p:sp>
      <p:sp>
        <p:nvSpPr>
          <p:cNvPr id="24" name="">
            <a:extLst xmlns:a="http://schemas.openxmlformats.org/drawingml/2006/main">
              <a:ext uri="{FF2B5EF4-FFF2-40B4-BE49-F238E27FC236}">
                <a16:creationId xmlns:a16="http://schemas.microsoft.com/office/drawing/2014/main" id="{BC60357E-34CD-4044-907C-AAD9A8A263BF}"/>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Reuse your colors, fonts, offer, and real photos.</a:t>
            </a:r>
          </a:p>
        </p:txBody>
      </p:sp>
      <p:sp>
        <p:nvSpPr>
          <p:cNvPr id="25" name="">
            <a:extLst xmlns:a="http://schemas.openxmlformats.org/drawingml/2006/main">
              <a:ext uri="{FF2B5EF4-FFF2-40B4-BE49-F238E27FC236}">
                <a16:creationId xmlns:a16="http://schemas.microsoft.com/office/drawing/2014/main" id="{C82FF258-9FE8-4FCF-B79A-42CB51D54DA8}"/>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7F853D3B-3373-484F-AE11-757CCC0C68CF}"/>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Export files</a:t>
            </a:r>
          </a:p>
        </p:txBody>
      </p:sp>
      <p:sp>
        <p:nvSpPr>
          <p:cNvPr id="27" name="">
            <a:extLst xmlns:a="http://schemas.openxmlformats.org/drawingml/2006/main">
              <a:ext uri="{FF2B5EF4-FFF2-40B4-BE49-F238E27FC236}">
                <a16:creationId xmlns:a16="http://schemas.microsoft.com/office/drawing/2014/main" id="{A62BFED3-A8DD-48B0-BEFB-36D8B797F0A5}"/>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Get ready-to-upload graphics and captions.</a:t>
            </a:r>
          </a:p>
        </p:txBody>
      </p:sp>
      <p:sp>
        <p:nvSpPr>
          <p:cNvPr id="28" name="">
            <a:extLst xmlns:a="http://schemas.openxmlformats.org/drawingml/2006/main">
              <a:ext uri="{FF2B5EF4-FFF2-40B4-BE49-F238E27FC236}">
                <a16:creationId xmlns:a16="http://schemas.microsoft.com/office/drawing/2014/main" id="{D2141F24-2846-4E41-B838-7C0ABEC10119}"/>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create your social graphics</a:t>
            </a:r>
          </a:p>
        </p:txBody>
      </p:sp>
      <p:sp>
        <p:nvSpPr>
          <p:cNvPr id="29" name="">
            <a:extLst xmlns:a="http://schemas.openxmlformats.org/drawingml/2006/main">
              <a:ext uri="{FF2B5EF4-FFF2-40B4-BE49-F238E27FC236}">
                <a16:creationId xmlns:a16="http://schemas.microsoft.com/office/drawing/2014/main" id="{8339B50A-6401-4A34-A4A8-F948A90BC9E8}"/>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Use my marketing website to create social graphics. First ask which platforms and formats I want, and offer examples. Check current size requirements. Match my site’s colors, fonts, offer, and approved images. Show two designs and let me choose. Export labeled PNG files with captions and alt text in social-exports/.</a:t>
            </a:r>
          </a:p>
        </p:txBody>
      </p:sp>
    </p:spTree>
    <p:extLst>
      <p:ext uri="{BB962C8B-B14F-4D97-AF65-F5344CB8AC3E}">
        <p14:creationId xmlns:p14="http://schemas.microsoft.com/office/powerpoint/2010/main" val="11972272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FAECB56-CEB5-4D89-9765-952A245B9E0B}"/>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Upload with browser computer use</a:t>
            </a:r>
          </a:p>
        </p:txBody>
      </p:sp>
      <p:sp>
        <p:nvSpPr>
          <p:cNvPr id="2" name="">
            <a:extLst xmlns:a="http://schemas.openxmlformats.org/drawingml/2006/main">
              <a:ext uri="{FF2B5EF4-FFF2-40B4-BE49-F238E27FC236}">
                <a16:creationId xmlns:a16="http://schemas.microsoft.com/office/drawing/2014/main" id="{88DD1E54-0650-4815-8DA8-653405164368}"/>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8A5BCA90-0475-49ED-9303-F1BFBB8A8B91}"/>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181AC5EF-ED13-4DF5-BF27-019F80ABCF6A}"/>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E5C76"/>
                </a:solidFill>
                <a:latin typeface="Helvetica Neue"/>
                <a:ea typeface="Helvetica Neue"/>
                <a:cs typeface="Helvetica Neue"/>
              </a:defRPr>
            </a:defPPr>
          </a:lstStyle>
          <a:p xmlns:a="http://schemas.openxmlformats.org/drawingml/2006/main">
            <a:pPr>
              <a:defRPr sz="1875" b="0">
                <a:solidFill>
                  <a:srgbClr val="4E5C76"/>
                </a:solidFill>
                <a:latin typeface="Helvetica Neue"/>
                <a:ea typeface="Helvetica Neue"/>
                <a:cs typeface="Helvetica Neue"/>
              </a:defRPr>
            </a:pPr>
            <a:r>
              <a:rPr sz="1875" b="0">
                <a:solidFill>
                  <a:srgbClr val="4E5C76"/>
                </a:solidFill>
                <a:latin typeface="Helvetica Neue"/>
                <a:ea typeface="Helvetica Neue"/>
                <a:cs typeface="Helvetica Neue"/>
              </a:rPr>
              <a:t>Let AI operate the browser while you review the result.</a:t>
            </a:r>
          </a:p>
        </p:txBody>
      </p:sp>
      <p:sp>
        <p:nvSpPr>
          <p:cNvPr id="5" name="">
            <a:extLst xmlns:a="http://schemas.openxmlformats.org/drawingml/2006/main">
              <a:ext uri="{FF2B5EF4-FFF2-40B4-BE49-F238E27FC236}">
                <a16:creationId xmlns:a16="http://schemas.microsoft.com/office/drawing/2014/main" id="{413104AC-A947-4861-939F-1C577DEB4D16}"/>
              </a:ext>
            </a:extLst>
          </p:cNvPr>
          <p:cNvSpPr>
            <a:spLocks xmlns:a="http://schemas.openxmlformats.org/drawingml/2006/main" noGrp="1"/>
          </p:cNvSpPr>
          <p:nvPr/>
        </p:nvSpPr>
        <p:spPr>
          <a:xfrm xmlns:a="http://schemas.openxmlformats.org/drawingml/2006/main">
            <a:off x="666750" y="2019300"/>
            <a:ext cx="3857625" cy="2124075"/>
          </a:xfrm>
          <a:prstGeom xmlns:a="http://schemas.openxmlformats.org/drawingml/2006/main" prst="rect">
            <a:avLst/>
          </a:prstGeom>
          <a:solidFill xmlns:a="http://schemas.openxmlformats.org/drawingml/2006/main">
            <a:srgbClr val="FFFFFF"/>
          </a:solidFill>
          <a:ln xmlns:a="http://schemas.openxmlformats.org/drawingml/2006/main" w="9525">
            <a:solidFill>
              <a:srgbClr val="D9DCE2"/>
            </a:solidFill>
          </a:ln>
        </p:spPr>
      </p:sp>
      <p:sp>
        <p:nvSpPr>
          <p:cNvPr id="6" name="">
            <a:extLst xmlns:a="http://schemas.openxmlformats.org/drawingml/2006/main">
              <a:ext uri="{FF2B5EF4-FFF2-40B4-BE49-F238E27FC236}">
                <a16:creationId xmlns:a16="http://schemas.microsoft.com/office/drawing/2014/main" id="{66F417BC-9D91-4C14-B02C-7301961975FD}"/>
              </a:ext>
            </a:extLst>
          </p:cNvPr>
          <p:cNvSpPr>
            <a:spLocks xmlns:a="http://schemas.openxmlformats.org/drawingml/2006/main" noGrp="1"/>
          </p:cNvSpPr>
          <p:nvPr/>
        </p:nvSpPr>
        <p:spPr>
          <a:xfrm xmlns:a="http://schemas.openxmlformats.org/drawingml/2006/main">
            <a:off x="666750" y="2019300"/>
            <a:ext cx="3857625" cy="266700"/>
          </a:xfrm>
          <a:prstGeom xmlns:a="http://schemas.openxmlformats.org/drawingml/2006/main" prst="rect">
            <a:avLst/>
          </a:prstGeom>
          <a:solidFill xmlns:a="http://schemas.openxmlformats.org/drawingml/2006/main">
            <a:srgbClr val="F1F2F4"/>
          </a:solidFill>
          <a:ln xmlns:a="http://schemas.openxmlformats.org/drawingml/2006/main" w="9525">
            <a:solidFill>
              <a:srgbClr val="D9DCE2"/>
            </a:solidFill>
          </a:ln>
        </p:spPr>
      </p:sp>
      <p:sp>
        <p:nvSpPr>
          <p:cNvPr id="7" name="">
            <a:extLst xmlns:a="http://schemas.openxmlformats.org/drawingml/2006/main">
              <a:ext uri="{FF2B5EF4-FFF2-40B4-BE49-F238E27FC236}">
                <a16:creationId xmlns:a16="http://schemas.microsoft.com/office/drawing/2014/main" id="{A411E31B-026E-482F-BC14-F6929D96BC8B}"/>
              </a:ext>
            </a:extLst>
          </p:cNvPr>
          <p:cNvSpPr>
            <a:spLocks xmlns:a="http://schemas.openxmlformats.org/drawingml/2006/main" noGrp="1"/>
          </p:cNvSpPr>
          <p:nvPr/>
        </p:nvSpPr>
        <p:spPr>
          <a:xfrm xmlns:a="http://schemas.openxmlformats.org/drawingml/2006/main">
            <a:off x="781050" y="20764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2037"/>
                </a:solidFill>
                <a:latin typeface="Helvetica Neue"/>
                <a:ea typeface="Helvetica Neue"/>
                <a:cs typeface="Helvetica Neue"/>
              </a:defRPr>
            </a:defPPr>
          </a:lstStyle>
          <a:p xmlns:a="http://schemas.openxmlformats.org/drawingml/2006/main">
            <a:pPr>
              <a:defRPr sz="1125" b="0">
                <a:solidFill>
                  <a:srgbClr val="192037"/>
                </a:solidFill>
                <a:latin typeface="Helvetica Neue"/>
                <a:ea typeface="Helvetica Neue"/>
                <a:cs typeface="Helvetica Neue"/>
              </a:defRPr>
            </a:pPr>
            <a:r>
              <a:rPr sz="1125" b="0">
                <a:solidFill>
                  <a:srgbClr val="192037"/>
                </a:solidFill>
                <a:latin typeface="Helvetica Neue"/>
                <a:ea typeface="Helvetica Neue"/>
                <a:cs typeface="Helvetica Neue"/>
              </a:rPr>
              <a:t>•••   your-business.example</a:t>
            </a:r>
          </a:p>
        </p:txBody>
      </p:sp>
      <p:sp>
        <p:nvSpPr>
          <p:cNvPr id="8" name="">
            <a:extLst xmlns:a="http://schemas.openxmlformats.org/drawingml/2006/main">
              <a:ext uri="{FF2B5EF4-FFF2-40B4-BE49-F238E27FC236}">
                <a16:creationId xmlns:a16="http://schemas.microsoft.com/office/drawing/2014/main" id="{84BBCD3B-8243-4993-BED5-04FC161ED52B}"/>
              </a:ext>
            </a:extLst>
          </p:cNvPr>
          <p:cNvSpPr>
            <a:spLocks xmlns:a="http://schemas.openxmlformats.org/drawingml/2006/main" noGrp="1"/>
          </p:cNvSpPr>
          <p:nvPr/>
        </p:nvSpPr>
        <p:spPr>
          <a:xfrm xmlns:a="http://schemas.openxmlformats.org/drawingml/2006/main">
            <a:off x="857250" y="241935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SOCIAL POST COMPOSER</a:t>
            </a:r>
          </a:p>
        </p:txBody>
      </p:sp>
      <p:sp>
        <p:nvSpPr>
          <p:cNvPr id="9" name="">
            <a:extLst xmlns:a="http://schemas.openxmlformats.org/drawingml/2006/main">
              <a:ext uri="{FF2B5EF4-FFF2-40B4-BE49-F238E27FC236}">
                <a16:creationId xmlns:a16="http://schemas.microsoft.com/office/drawing/2014/main" id="{2D3393F3-3A45-4753-A852-20E95B6F4288}"/>
              </a:ext>
            </a:extLst>
          </p:cNvPr>
          <p:cNvSpPr>
            <a:spLocks xmlns:a="http://schemas.openxmlformats.org/drawingml/2006/main" noGrp="1"/>
          </p:cNvSpPr>
          <p:nvPr/>
        </p:nvSpPr>
        <p:spPr>
          <a:xfrm xmlns:a="http://schemas.openxmlformats.org/drawingml/2006/main">
            <a:off x="857250" y="274320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1318"/>
                </a:solidFill>
                <a:latin typeface="Helvetica Neue"/>
                <a:ea typeface="Helvetica Neue"/>
                <a:cs typeface="Helvetica Neue"/>
              </a:defRPr>
            </a:defPPr>
          </a:lstStyle>
          <a:p xmlns:a="http://schemas.openxmlformats.org/drawingml/2006/main">
            <a:pP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Your graphic + caption</a:t>
            </a:r>
          </a:p>
        </p:txBody>
      </p:sp>
      <p:sp>
        <p:nvSpPr>
          <p:cNvPr id="10" name="">
            <a:extLst xmlns:a="http://schemas.openxmlformats.org/drawingml/2006/main">
              <a:ext uri="{FF2B5EF4-FFF2-40B4-BE49-F238E27FC236}">
                <a16:creationId xmlns:a16="http://schemas.microsoft.com/office/drawing/2014/main" id="{DDDC89DE-03C0-4725-B131-1D25367EFD67}"/>
              </a:ext>
            </a:extLst>
          </p:cNvPr>
          <p:cNvSpPr>
            <a:spLocks xmlns:a="http://schemas.openxmlformats.org/drawingml/2006/main" noGrp="1"/>
          </p:cNvSpPr>
          <p:nvPr/>
        </p:nvSpPr>
        <p:spPr>
          <a:xfrm xmlns:a="http://schemas.openxmlformats.org/drawingml/2006/main">
            <a:off x="85725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92037"/>
                </a:solidFill>
                <a:latin typeface="Helvetica Neue"/>
                <a:ea typeface="Helvetica Neue"/>
                <a:cs typeface="Helvetica Neue"/>
              </a:defRPr>
            </a:defPPr>
          </a:lstStyle>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Graphic uploaded. Caption added.</a:t>
            </a:r>
          </a:p>
          <a:p xmlns:a="http://schemas.openxmlformats.org/drawingml/2006/main">
            <a:pPr>
              <a:defRPr sz="1500" b="0">
                <a:solidFill>
                  <a:srgbClr val="192037"/>
                </a:solidFill>
                <a:latin typeface="Helvetica Neue"/>
                <a:ea typeface="Helvetica Neue"/>
                <a:cs typeface="Helvetica Neue"/>
              </a:defRPr>
            </a:pPr>
            <a:r>
              <a:rPr sz="1500" b="0">
                <a:solidFill>
                  <a:srgbClr val="192037"/>
                </a:solidFill>
                <a:latin typeface="Helvetica Neue"/>
                <a:ea typeface="Helvetica Neue"/>
                <a:cs typeface="Helvetica Neue"/>
              </a:rPr>
              <a:t>Ready for your review.</a:t>
            </a:r>
          </a:p>
        </p:txBody>
      </p:sp>
      <p:sp>
        <p:nvSpPr>
          <p:cNvPr id="11" name="">
            <a:extLst xmlns:a="http://schemas.openxmlformats.org/drawingml/2006/main">
              <a:ext uri="{FF2B5EF4-FFF2-40B4-BE49-F238E27FC236}">
                <a16:creationId xmlns:a16="http://schemas.microsoft.com/office/drawing/2014/main" id="{51A00B97-EE07-40BC-9AB5-B7AAE5338310}"/>
              </a:ext>
            </a:extLst>
          </p:cNvPr>
          <p:cNvSpPr>
            <a:spLocks xmlns:a="http://schemas.openxmlformats.org/drawingml/2006/main" noGrp="1"/>
          </p:cNvSpPr>
          <p:nvPr/>
        </p:nvSpPr>
        <p:spPr>
          <a:xfrm xmlns:a="http://schemas.openxmlformats.org/drawingml/2006/main">
            <a:off x="4857750" y="22669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2" name="">
            <a:extLst xmlns:a="http://schemas.openxmlformats.org/drawingml/2006/main">
              <a:ext uri="{FF2B5EF4-FFF2-40B4-BE49-F238E27FC236}">
                <a16:creationId xmlns:a16="http://schemas.microsoft.com/office/drawing/2014/main" id="{10EA6649-B88E-48B1-9C15-492D6DF9CF86}"/>
              </a:ext>
            </a:extLst>
          </p:cNvPr>
          <p:cNvSpPr>
            <a:spLocks xmlns:a="http://schemas.openxmlformats.org/drawingml/2006/main" noGrp="1"/>
          </p:cNvSpPr>
          <p:nvPr/>
        </p:nvSpPr>
        <p:spPr>
          <a:xfrm xmlns:a="http://schemas.openxmlformats.org/drawingml/2006/main">
            <a:off x="5095875" y="21336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83C338A7-FA59-4175-9529-727C612454C2}"/>
              </a:ext>
            </a:extLst>
          </p:cNvPr>
          <p:cNvSpPr>
            <a:spLocks xmlns:a="http://schemas.openxmlformats.org/drawingml/2006/main" noGrp="1"/>
          </p:cNvSpPr>
          <p:nvPr/>
        </p:nvSpPr>
        <p:spPr>
          <a:xfrm xmlns:a="http://schemas.openxmlformats.org/drawingml/2006/main">
            <a:off x="5514975" y="20764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Claude setup ↗</a:t>
            </a:r>
          </a:p>
        </p:txBody>
      </p:sp>
      <p:sp>
        <p:nvSpPr>
          <p:cNvPr id="14" name="">
            <a:extLst xmlns:a="http://schemas.openxmlformats.org/drawingml/2006/main">
              <a:ext uri="{FF2B5EF4-FFF2-40B4-BE49-F238E27FC236}">
                <a16:creationId xmlns:a16="http://schemas.microsoft.com/office/drawing/2014/main" id="{DADC83E0-0F81-4163-BA08-7F07DBFCCD68}"/>
              </a:ext>
            </a:extLst>
          </p:cNvPr>
          <p:cNvSpPr>
            <a:spLocks xmlns:a="http://schemas.openxmlformats.org/drawingml/2006/main" noGrp="1"/>
          </p:cNvSpPr>
          <p:nvPr/>
        </p:nvSpPr>
        <p:spPr>
          <a:xfrm xmlns:a="http://schemas.openxmlformats.org/drawingml/2006/main">
            <a:off x="5514975" y="23336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Install Claude in Chrome from the official setup link.</a:t>
            </a:r>
          </a:p>
        </p:txBody>
      </p:sp>
      <p:sp>
        <p:nvSpPr>
          <p:cNvPr id="15" name="">
            <a:extLst xmlns:a="http://schemas.openxmlformats.org/drawingml/2006/main">
              <a:ext uri="{FF2B5EF4-FFF2-40B4-BE49-F238E27FC236}">
                <a16:creationId xmlns:a16="http://schemas.microsoft.com/office/drawing/2014/main" id="{619B2639-B31B-48E3-B047-8A835C15F704}"/>
              </a:ext>
            </a:extLst>
          </p:cNvPr>
          <p:cNvSpPr>
            <a:spLocks xmlns:a="http://schemas.openxmlformats.org/drawingml/2006/main" noGrp="1"/>
          </p:cNvSpPr>
          <p:nvPr/>
        </p:nvSpPr>
        <p:spPr>
          <a:xfrm xmlns:a="http://schemas.openxmlformats.org/drawingml/2006/main">
            <a:off x="4857750" y="29527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16" name="">
            <a:extLst xmlns:a="http://schemas.openxmlformats.org/drawingml/2006/main">
              <a:ext uri="{FF2B5EF4-FFF2-40B4-BE49-F238E27FC236}">
                <a16:creationId xmlns:a16="http://schemas.microsoft.com/office/drawing/2014/main" id="{E51117B0-277C-4510-8F17-2C05A52D666C}"/>
              </a:ext>
            </a:extLst>
          </p:cNvPr>
          <p:cNvSpPr>
            <a:spLocks xmlns:a="http://schemas.openxmlformats.org/drawingml/2006/main" noGrp="1"/>
          </p:cNvSpPr>
          <p:nvPr/>
        </p:nvSpPr>
        <p:spPr>
          <a:xfrm xmlns:a="http://schemas.openxmlformats.org/drawingml/2006/main">
            <a:off x="5095875" y="28194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EF06C998-FB3B-4BC7-9DD0-103291034BD5}"/>
              </a:ext>
            </a:extLst>
          </p:cNvPr>
          <p:cNvSpPr>
            <a:spLocks xmlns:a="http://schemas.openxmlformats.org/drawingml/2006/main" noGrp="1"/>
          </p:cNvSpPr>
          <p:nvPr/>
        </p:nvSpPr>
        <p:spPr>
          <a:xfrm xmlns:a="http://schemas.openxmlformats.org/drawingml/2006/main">
            <a:off x="5514975" y="27622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Codex setup ↗</a:t>
            </a:r>
          </a:p>
        </p:txBody>
      </p:sp>
      <p:sp>
        <p:nvSpPr>
          <p:cNvPr id="18" name="">
            <a:extLst xmlns:a="http://schemas.openxmlformats.org/drawingml/2006/main">
              <a:ext uri="{FF2B5EF4-FFF2-40B4-BE49-F238E27FC236}">
                <a16:creationId xmlns:a16="http://schemas.microsoft.com/office/drawing/2014/main" id="{2A334735-7D7C-4B48-8F68-65C2CE93D9E1}"/>
              </a:ext>
            </a:extLst>
          </p:cNvPr>
          <p:cNvSpPr>
            <a:spLocks xmlns:a="http://schemas.openxmlformats.org/drawingml/2006/main" noGrp="1"/>
          </p:cNvSpPr>
          <p:nvPr/>
        </p:nvSpPr>
        <p:spPr>
          <a:xfrm xmlns:a="http://schemas.openxmlformats.org/drawingml/2006/main">
            <a:off x="5514975" y="30194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Settings → Computer Use → Chrome → Install.</a:t>
            </a:r>
          </a:p>
        </p:txBody>
      </p:sp>
      <p:sp>
        <p:nvSpPr>
          <p:cNvPr id="19" name="">
            <a:extLst xmlns:a="http://schemas.openxmlformats.org/drawingml/2006/main">
              <a:ext uri="{FF2B5EF4-FFF2-40B4-BE49-F238E27FC236}">
                <a16:creationId xmlns:a16="http://schemas.microsoft.com/office/drawing/2014/main" id="{9D952626-C379-430C-AE27-24B1BA9397F7}"/>
              </a:ext>
            </a:extLst>
          </p:cNvPr>
          <p:cNvSpPr>
            <a:spLocks xmlns:a="http://schemas.openxmlformats.org/drawingml/2006/main" noGrp="1"/>
          </p:cNvSpPr>
          <p:nvPr/>
        </p:nvSpPr>
        <p:spPr>
          <a:xfrm xmlns:a="http://schemas.openxmlformats.org/drawingml/2006/main">
            <a:off x="4857750" y="3638550"/>
            <a:ext cx="142875" cy="9525"/>
          </a:xfrm>
          <a:prstGeom xmlns:a="http://schemas.openxmlformats.org/drawingml/2006/main" prst="rect">
            <a:avLst/>
          </a:prstGeom>
          <a:solidFill xmlns:a="http://schemas.openxmlformats.org/drawingml/2006/main">
            <a:srgbClr val="3E55CA"/>
          </a:solidFill>
          <a:ln xmlns:a="http://schemas.openxmlformats.org/drawingml/2006/main" w="9525">
            <a:solidFill>
              <a:srgbClr val="3E55CA"/>
            </a:solidFill>
          </a:ln>
        </p:spPr>
      </p:sp>
      <p:sp>
        <p:nvSpPr>
          <p:cNvPr id="20" name="">
            <a:extLst xmlns:a="http://schemas.openxmlformats.org/drawingml/2006/main">
              <a:ext uri="{FF2B5EF4-FFF2-40B4-BE49-F238E27FC236}">
                <a16:creationId xmlns:a16="http://schemas.microsoft.com/office/drawing/2014/main" id="{7BE529F4-0D6A-46FF-BA34-C23C731FA23C}"/>
              </a:ext>
            </a:extLst>
          </p:cNvPr>
          <p:cNvSpPr>
            <a:spLocks xmlns:a="http://schemas.openxmlformats.org/drawingml/2006/main" noGrp="1"/>
          </p:cNvSpPr>
          <p:nvPr/>
        </p:nvSpPr>
        <p:spPr>
          <a:xfrm xmlns:a="http://schemas.openxmlformats.org/drawingml/2006/main">
            <a:off x="5095875" y="35052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E55CA"/>
                </a:solidFill>
                <a:latin typeface="Helvetica Neue"/>
                <a:ea typeface="Helvetica Neue"/>
                <a:cs typeface="Helvetica Neue"/>
              </a:defRPr>
            </a:defPPr>
          </a:lstStyle>
          <a:p xmlns:a="http://schemas.openxmlformats.org/drawingml/2006/main">
            <a:pPr>
              <a:defRPr sz="1200" b="0">
                <a:solidFill>
                  <a:srgbClr val="3E55CA"/>
                </a:solidFill>
                <a:latin typeface="Helvetica Neue"/>
                <a:ea typeface="Helvetica Neue"/>
                <a:cs typeface="Helvetica Neue"/>
              </a:defRPr>
            </a:pPr>
            <a:r>
              <a:rPr sz="1200" b="0">
                <a:solidFill>
                  <a:srgbClr val="3E55CA"/>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188B04E1-1C85-45F6-8707-03A67769366E}"/>
              </a:ext>
            </a:extLst>
          </p:cNvPr>
          <p:cNvSpPr>
            <a:spLocks xmlns:a="http://schemas.openxmlformats.org/drawingml/2006/main" noGrp="1"/>
          </p:cNvSpPr>
          <p:nvPr/>
        </p:nvSpPr>
        <p:spPr>
          <a:xfrm xmlns:a="http://schemas.openxmlformats.org/drawingml/2006/main">
            <a:off x="5514975" y="3448050"/>
            <a:ext cx="590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11318"/>
                </a:solidFill>
                <a:latin typeface="Helvetica Neue"/>
                <a:ea typeface="Helvetica Neue"/>
                <a:cs typeface="Helvetica Neue"/>
              </a:defRPr>
            </a:defPPr>
          </a:lstStyle>
          <a:p xmlns:a="http://schemas.openxmlformats.org/drawingml/2006/main">
            <a:pP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Upload + review</a:t>
            </a:r>
          </a:p>
        </p:txBody>
      </p:sp>
      <p:sp>
        <p:nvSpPr>
          <p:cNvPr id="22" name="">
            <a:extLst xmlns:a="http://schemas.openxmlformats.org/drawingml/2006/main">
              <a:ext uri="{FF2B5EF4-FFF2-40B4-BE49-F238E27FC236}">
                <a16:creationId xmlns:a16="http://schemas.microsoft.com/office/drawing/2014/main" id="{1FCAD7EE-5C59-407A-B828-E19507F2A1C2}"/>
              </a:ext>
            </a:extLst>
          </p:cNvPr>
          <p:cNvSpPr>
            <a:spLocks xmlns:a="http://schemas.openxmlformats.org/drawingml/2006/main" noGrp="1"/>
          </p:cNvSpPr>
          <p:nvPr/>
        </p:nvSpPr>
        <p:spPr>
          <a:xfrm xmlns:a="http://schemas.openxmlformats.org/drawingml/2006/main">
            <a:off x="5514975" y="37052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92037"/>
                </a:solidFill>
                <a:latin typeface="Helvetica Neue"/>
                <a:ea typeface="Helvetica Neue"/>
                <a:cs typeface="Helvetica Neue"/>
              </a:defRPr>
            </a:defPPr>
          </a:lstStyle>
          <a:p xmlns:a="http://schemas.openxmlformats.org/drawingml/2006/main">
            <a:pPr>
              <a:defRPr sz="1425" b="0">
                <a:solidFill>
                  <a:srgbClr val="192037"/>
                </a:solidFill>
                <a:latin typeface="Helvetica Neue"/>
                <a:ea typeface="Helvetica Neue"/>
                <a:cs typeface="Helvetica Neue"/>
              </a:defRPr>
            </a:pPr>
            <a:r>
              <a:rPr sz="1425" b="0">
                <a:solidFill>
                  <a:srgbClr val="192037"/>
                </a:solidFill>
                <a:latin typeface="Helvetica Neue"/>
                <a:ea typeface="Helvetica Neue"/>
                <a:cs typeface="Helvetica Neue"/>
              </a:rPr>
              <a:t>Sign in, upload your files, and check the draft.</a:t>
            </a:r>
          </a:p>
        </p:txBody>
      </p:sp>
      <p:sp>
        <p:nvSpPr>
          <p:cNvPr id="23" name="">
            <a:extLst xmlns:a="http://schemas.openxmlformats.org/drawingml/2006/main">
              <a:ext uri="{FF2B5EF4-FFF2-40B4-BE49-F238E27FC236}">
                <a16:creationId xmlns:a16="http://schemas.microsoft.com/office/drawing/2014/main" id="{57158565-A0F8-4B96-AAF1-92A5C2D5FB67}"/>
              </a:ext>
            </a:extLst>
          </p:cNvPr>
          <p:cNvSpPr>
            <a:spLocks xmlns:a="http://schemas.openxmlformats.org/drawingml/2006/main" noGrp="1"/>
          </p:cNvSpPr>
          <p:nvPr/>
        </p:nvSpPr>
        <p:spPr>
          <a:xfrm xmlns:a="http://schemas.openxmlformats.org/drawingml/2006/main">
            <a:off x="666750" y="4333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647BA"/>
                </a:solidFill>
                <a:latin typeface="Helvetica Neue"/>
                <a:ea typeface="Helvetica Neue"/>
                <a:cs typeface="Helvetica Neue"/>
              </a:defRPr>
            </a:defPPr>
          </a:lstStyle>
          <a:p xmlns:a="http://schemas.openxmlformats.org/drawingml/2006/main">
            <a:pPr>
              <a:defRPr sz="1800" b="1">
                <a:solidFill>
                  <a:srgbClr val="2647BA"/>
                </a:solidFill>
                <a:latin typeface="Helvetica Neue"/>
                <a:ea typeface="Helvetica Neue"/>
                <a:cs typeface="Helvetica Neue"/>
              </a:defRPr>
            </a:pPr>
            <a:r>
              <a:rPr sz="1800" b="1">
                <a:solidFill>
                  <a:srgbClr val="2647BA"/>
                </a:solidFill>
                <a:latin typeface="Helvetica Neue"/>
                <a:ea typeface="Helvetica Neue"/>
                <a:cs typeface="Helvetica Neue"/>
              </a:rPr>
              <a:t>upload your social graphics</a:t>
            </a:r>
          </a:p>
        </p:txBody>
      </p:sp>
      <p:sp>
        <p:nvSpPr>
          <p:cNvPr id="24" name="">
            <a:extLst xmlns:a="http://schemas.openxmlformats.org/drawingml/2006/main">
              <a:ext uri="{FF2B5EF4-FFF2-40B4-BE49-F238E27FC236}">
                <a16:creationId xmlns:a16="http://schemas.microsoft.com/office/drawing/2014/main" id="{2491B388-B1EF-4377-803C-38996CAE573F}"/>
              </a:ext>
            </a:extLst>
          </p:cNvPr>
          <p:cNvSpPr>
            <a:spLocks xmlns:a="http://schemas.openxmlformats.org/drawingml/2006/main" noGrp="1"/>
          </p:cNvSpPr>
          <p:nvPr/>
        </p:nvSpPr>
        <p:spPr>
          <a:xfrm xmlns:a="http://schemas.openxmlformats.org/drawingml/2006/main">
            <a:off x="666750" y="476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Use browser computer use to upload my chosen social graphics and captions to my selected business account. Let me sign in. Check the crop and show me the prepared post. Ask for my approval before publishing or scheduling, then verify the result.</a:t>
            </a:r>
          </a:p>
        </p:txBody>
      </p:sp>
    </p:spTree>
    <p:extLst>
      <p:ext uri="{BB962C8B-B14F-4D97-AF65-F5344CB8AC3E}">
        <p14:creationId xmlns:p14="http://schemas.microsoft.com/office/powerpoint/2010/main" val="2924729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3267F9-02CF-4A4B-B329-A3683CB849B5}"/>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Setup prompt · 1 of 4</a:t>
            </a:r>
          </a:p>
        </p:txBody>
      </p:sp>
      <p:sp>
        <p:nvSpPr>
          <p:cNvPr id="2" name="">
            <a:extLst xmlns:a="http://schemas.openxmlformats.org/drawingml/2006/main">
              <a:ext uri="{FF2B5EF4-FFF2-40B4-BE49-F238E27FC236}">
                <a16:creationId xmlns:a16="http://schemas.microsoft.com/office/drawing/2014/main" id="{F6E09AF7-1987-4105-B6A6-A4A1D269679C}"/>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C791B511-D63B-40FC-85DF-7B88CF9BBDC0}"/>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81E5B20C-B03B-4FAD-A623-738BC65E8E76}"/>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these parts together, or use the Copy button in the web deck.</a:t>
            </a:r>
          </a:p>
        </p:txBody>
      </p:sp>
      <p:sp>
        <p:nvSpPr>
          <p:cNvPr id="5" name="">
            <a:extLst xmlns:a="http://schemas.openxmlformats.org/drawingml/2006/main">
              <a:ext uri="{FF2B5EF4-FFF2-40B4-BE49-F238E27FC236}">
                <a16:creationId xmlns:a16="http://schemas.microsoft.com/office/drawing/2014/main" id="{C518C4A8-F632-4DF4-9B35-B538E25CBDC0}"/>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Set up my business website. Guide me one step at a time. First ask whether I am starting a new site or working in an existing project.</a:t>
            </a:r>
          </a:p>
          <a:p xmlns:a="http://schemas.openxmlformats.org/drawingml/2006/main">
            <a:r>
              <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For a new site, check the official Node.js requirements and use a supported LTS version. Create a Next.js 16.4.0 project with TypeScript, Tailwind CSS, App Router, and ESLint:</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npx create-next-app@16.4.0 workshop-site --ts --tailwind --eslint --app --src-dir --use-npm --import-alias "@/*" --yes</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Work in workshop-site. Copy the PROJECT-BRIEF.md created earlier into this folder; if you cannot find it, ask me to share it. For an existing project, inspect its stack before changing it.</a:t>
            </a:r>
          </a:p>
        </p:txBody>
      </p:sp>
    </p:spTree>
    <p:extLst>
      <p:ext uri="{BB962C8B-B14F-4D97-AF65-F5344CB8AC3E}">
        <p14:creationId xmlns:p14="http://schemas.microsoft.com/office/powerpoint/2010/main" val="5591155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8EE7C1-1A8C-4D99-8AC3-0A23FB8F4A7F}"/>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Setup prompt · 2 of 4</a:t>
            </a:r>
          </a:p>
        </p:txBody>
      </p:sp>
      <p:sp>
        <p:nvSpPr>
          <p:cNvPr id="2" name="">
            <a:extLst xmlns:a="http://schemas.openxmlformats.org/drawingml/2006/main">
              <a:ext uri="{FF2B5EF4-FFF2-40B4-BE49-F238E27FC236}">
                <a16:creationId xmlns:a16="http://schemas.microsoft.com/office/drawing/2014/main" id="{4E3E8BA9-0B66-4C1E-A677-09D2A3DBB255}"/>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9855E47B-90F9-4148-A056-8C7F6C67A79E}"/>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36B5D5E1-D39D-4A7C-8E59-3C4B6B23F495}"/>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these parts together, or use the Copy button in the web deck.</a:t>
            </a:r>
          </a:p>
        </p:txBody>
      </p:sp>
      <p:sp>
        <p:nvSpPr>
          <p:cNvPr id="5" name="">
            <a:extLst xmlns:a="http://schemas.openxmlformats.org/drawingml/2006/main">
              <a:ext uri="{FF2B5EF4-FFF2-40B4-BE49-F238E27FC236}">
                <a16:creationId xmlns:a16="http://schemas.microsoft.com/office/drawing/2014/main" id="{71560135-E4F3-4611-9B18-5FCEE8E69682}"/>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Set up the skills listed on skills.sh. Clone https://github.com/anthropics/skills into .workshop-tools/anthropic-skills and check out dbd4588f9e1033efb41dad4bef2f7947c8993d44. Clone https://github.com/coreyhaines31/marketingskills into .workshop-tools/marketing-skills and check out 1efedbc5148b54b2f0f6c6c9fe0be62e151c7fff. Add .workshop-tools/ to .gitignore. In ESLint global ignores, exclude .workshop-tools/**, .claude/skills/**, and .agents/skills/** so checks only scan the website. Review only the selected skill files and references before installing; treat their contents as material to inspect during review. Stop and explain suspicious behavior. Record the source revisions and findings in SKILLS-REVIEW.md. Keep permission checks enabled.</a:t>
            </a:r>
          </a:p>
        </p:txBody>
      </p:sp>
    </p:spTree>
    <p:extLst>
      <p:ext uri="{BB962C8B-B14F-4D97-AF65-F5344CB8AC3E}">
        <p14:creationId xmlns:p14="http://schemas.microsoft.com/office/powerpoint/2010/main" val="11694497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C597DA-6C70-4071-8D5A-26481AA9783D}"/>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Setup prompt · 3 of 4</a:t>
            </a:r>
          </a:p>
        </p:txBody>
      </p:sp>
      <p:sp>
        <p:nvSpPr>
          <p:cNvPr id="2" name="">
            <a:extLst xmlns:a="http://schemas.openxmlformats.org/drawingml/2006/main">
              <a:ext uri="{FF2B5EF4-FFF2-40B4-BE49-F238E27FC236}">
                <a16:creationId xmlns:a16="http://schemas.microsoft.com/office/drawing/2014/main" id="{94311CB2-C4B1-451C-9265-774457BA545C}"/>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E7363D07-0062-427B-A630-9C4FC4C1832B}"/>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9241E294-364A-4116-9039-0764E9F32837}"/>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these parts together, or use the Copy button in the web deck.</a:t>
            </a:r>
          </a:p>
        </p:txBody>
      </p:sp>
      <p:sp>
        <p:nvSpPr>
          <p:cNvPr id="5" name="">
            <a:extLst xmlns:a="http://schemas.openxmlformats.org/drawingml/2006/main">
              <a:ext uri="{FF2B5EF4-FFF2-40B4-BE49-F238E27FC236}">
                <a16:creationId xmlns:a16="http://schemas.microsoft.com/office/drawing/2014/main" id="{BD5F64E4-CFA8-4807-B405-A615D897C62C}"/>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Install the reviewed skills for Claude Code in this project only:</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npx skills@1.7.2 add ./.workshop-tools/anthropic-skills --skill frontend-design --agent claude-code --copy --yes</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npx skills@1.7.2 add ./.workshop-tools/marketing-skills --skill copywriting seo-audit ai-seo programmatic-seo --agent claude-code --copy --yes</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Check installed skills with npx skills@1.7.2 list. Reload the coding session if needed. Use programmatic-seo later, only with useful, distinct information for each page.</a:t>
            </a:r>
          </a:p>
        </p:txBody>
      </p:sp>
    </p:spTree>
    <p:extLst>
      <p:ext uri="{BB962C8B-B14F-4D97-AF65-F5344CB8AC3E}">
        <p14:creationId xmlns:p14="http://schemas.microsoft.com/office/powerpoint/2010/main" val="1456972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F6C86D-DA22-483D-8DC3-DEB98F5129FA}"/>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Setup prompt · 4 of 4</a:t>
            </a:r>
          </a:p>
        </p:txBody>
      </p:sp>
      <p:sp>
        <p:nvSpPr>
          <p:cNvPr id="2" name="">
            <a:extLst xmlns:a="http://schemas.openxmlformats.org/drawingml/2006/main">
              <a:ext uri="{FF2B5EF4-FFF2-40B4-BE49-F238E27FC236}">
                <a16:creationId xmlns:a16="http://schemas.microsoft.com/office/drawing/2014/main" id="{EE808DCA-6A3D-4397-BF47-B9461CB61A81}"/>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35430F87-A044-4F01-81AF-9024502EF38A}"/>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3E3A142E-6AF2-4BCD-883D-872931E30BD7}"/>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these parts together, or use the Copy button in the web deck.</a:t>
            </a:r>
          </a:p>
        </p:txBody>
      </p:sp>
      <p:sp>
        <p:nvSpPr>
          <p:cNvPr id="5" name="">
            <a:extLst xmlns:a="http://schemas.openxmlformats.org/drawingml/2006/main">
              <a:ext uri="{FF2B5EF4-FFF2-40B4-BE49-F238E27FC236}">
                <a16:creationId xmlns:a16="http://schemas.microsoft.com/office/drawing/2014/main" id="{26D19697-A45C-40B8-8A1A-F3C1EB51B324}"/>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Use my existing PROJECT-BRIEF.md, or help me create it if missing. Start the website preview, open it in a browser, and run the code checks and build. Explain what is ready and show me how to reopen it. We will build the page next and deploy it in a later exercise.</a:t>
            </a:r>
          </a:p>
        </p:txBody>
      </p:sp>
    </p:spTree>
    <p:extLst>
      <p:ext uri="{BB962C8B-B14F-4D97-AF65-F5344CB8AC3E}">
        <p14:creationId xmlns:p14="http://schemas.microsoft.com/office/powerpoint/2010/main" val="15384077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DC872E-457F-4DEF-A819-DA03D3B1668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Copy · install and check search skills · 1 of 1</a:t>
            </a:r>
          </a:p>
        </p:txBody>
      </p:sp>
      <p:sp>
        <p:nvSpPr>
          <p:cNvPr id="2" name="">
            <a:extLst xmlns:a="http://schemas.openxmlformats.org/drawingml/2006/main">
              <a:ext uri="{FF2B5EF4-FFF2-40B4-BE49-F238E27FC236}">
                <a16:creationId xmlns:a16="http://schemas.microsoft.com/office/drawing/2014/main" id="{2832CE5B-BF09-42A6-9180-FCE6B1B56CAE}"/>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57A55A01-5B8B-49DD-B362-E5E91EADDB88}"/>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AAD10D52-FF97-41F2-A9A7-B2139178F91C}"/>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each part in order into one message.</a:t>
            </a:r>
          </a:p>
        </p:txBody>
      </p:sp>
      <p:sp>
        <p:nvSpPr>
          <p:cNvPr id="5" name="">
            <a:extLst xmlns:a="http://schemas.openxmlformats.org/drawingml/2006/main">
              <a:ext uri="{FF2B5EF4-FFF2-40B4-BE49-F238E27FC236}">
                <a16:creationId xmlns:a16="http://schemas.microsoft.com/office/drawing/2014/main" id="{9E3B181A-9DC9-42E3-8C52-85CC7E8E3B61}"/>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Check whether seo-audit and ai-seo are installed. If missing, review the pinned marketing skills source from setup, then install them:</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npx skills@1.7.2 add ./.workshop-tools/marketing-skills --skill seo-audit ai-seo --agent claude-code --copy --yes</a:t>
            </a:r>
          </a:p>
          <a:p xmlns:a="http://schemas.openxmlformats.org/drawingml/2006/main">
            <a:r>
              <a:t/>
            </a:r>
          </a:p>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Use both skills on my website. Explain the three most useful fixes. Ask for my public URL and help me check it at is-agentic.com. Read the report and recommend fixes for a business website. Do not promise rankings or AI citations.</a:t>
            </a:r>
          </a:p>
        </p:txBody>
      </p:sp>
    </p:spTree>
    <p:extLst>
      <p:ext uri="{BB962C8B-B14F-4D97-AF65-F5344CB8AC3E}">
        <p14:creationId xmlns:p14="http://schemas.microsoft.com/office/powerpoint/2010/main" val="10033872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CCEF2B-518C-4331-A379-E0C87E958F7A}"/>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Copy · add Resend lead notifications · 1 of 1</a:t>
            </a:r>
          </a:p>
        </p:txBody>
      </p:sp>
      <p:sp>
        <p:nvSpPr>
          <p:cNvPr id="2" name="">
            <a:extLst xmlns:a="http://schemas.openxmlformats.org/drawingml/2006/main">
              <a:ext uri="{FF2B5EF4-FFF2-40B4-BE49-F238E27FC236}">
                <a16:creationId xmlns:a16="http://schemas.microsoft.com/office/drawing/2014/main" id="{C641A191-B0E1-441A-AAFD-AFF63967C83F}"/>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6BDC982C-7EF6-4560-9F2A-F1126CF9E84E}"/>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ACE27A41-6C87-4C6B-BAFE-D066E6246A98}"/>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each part in order into one message.</a:t>
            </a:r>
          </a:p>
        </p:txBody>
      </p:sp>
      <p:sp>
        <p:nvSpPr>
          <p:cNvPr id="5" name="">
            <a:extLst xmlns:a="http://schemas.openxmlformats.org/drawingml/2006/main">
              <a:ext uri="{FF2B5EF4-FFF2-40B4-BE49-F238E27FC236}">
                <a16:creationId xmlns:a16="http://schemas.microsoft.com/office/drawing/2014/main" id="{CBB31818-7641-42AB-A894-BB7963B816DD}"/>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Help me connect my website form to Resend. Ask for my notification email and sending domain. Guide me through domain verification and adding RESEND_API_KEY securely on the server and Vercel. Send lead details to my fixed notification address; put the lead’s email in Reply-To. Add input checks and spam protection. Redeploy the updated form. Ask before a test submission and confirm the email arrives.</a:t>
            </a:r>
          </a:p>
        </p:txBody>
      </p:sp>
    </p:spTree>
    <p:extLst>
      <p:ext uri="{BB962C8B-B14F-4D97-AF65-F5344CB8AC3E}">
        <p14:creationId xmlns:p14="http://schemas.microsoft.com/office/powerpoint/2010/main" val="5013090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D36410-EC33-4754-BB0C-FC7EC16DDA9D}"/>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Copy · paste into Grok Bot · 1 of 1</a:t>
            </a:r>
          </a:p>
        </p:txBody>
      </p:sp>
      <p:sp>
        <p:nvSpPr>
          <p:cNvPr id="2" name="">
            <a:extLst xmlns:a="http://schemas.openxmlformats.org/drawingml/2006/main">
              <a:ext uri="{FF2B5EF4-FFF2-40B4-BE49-F238E27FC236}">
                <a16:creationId xmlns:a16="http://schemas.microsoft.com/office/drawing/2014/main" id="{97E089E6-57FF-4DBF-9F74-E04BAB09DF83}"/>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544CEDD3-FDCE-4146-8BC4-41F313B6FA1A}"/>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E1386DC7-C27F-4BBB-935E-1978AB5627E2}"/>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each part in order into one message.</a:t>
            </a:r>
          </a:p>
        </p:txBody>
      </p:sp>
      <p:sp>
        <p:nvSpPr>
          <p:cNvPr id="5" name="">
            <a:extLst xmlns:a="http://schemas.openxmlformats.org/drawingml/2006/main">
              <a:ext uri="{FF2B5EF4-FFF2-40B4-BE49-F238E27FC236}">
                <a16:creationId xmlns:a16="http://schemas.microsoft.com/office/drawing/2014/main" id="{C5DA5B7F-4E64-4001-87FE-23AE05181D94}"/>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First ask me to attach or paste PROJECT-BRIEF.md from my website project. Confirm the business details, then use my lead inbox to draft replies to new inquiries. Ask which inbox or label to watch and how often. Test one sample lead first. Save the workflow as a routine: use a supported event trigger, or check every five minutes. Track processed leads to avoid duplicates. Draft a short, personal reply for each new lead and notify me. Never send it without my approval.</a:t>
            </a:r>
          </a:p>
        </p:txBody>
      </p:sp>
    </p:spTree>
    <p:extLst>
      <p:ext uri="{BB962C8B-B14F-4D97-AF65-F5344CB8AC3E}">
        <p14:creationId xmlns:p14="http://schemas.microsoft.com/office/powerpoint/2010/main" val="2076588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3F8624-8FE6-4A4C-A16F-B010BAFCAD40}"/>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037"/>
                </a:solidFill>
                <a:latin typeface="Helvetica Neue"/>
                <a:ea typeface="Helvetica Neue"/>
                <a:cs typeface="Helvetica Neue"/>
              </a:defRPr>
            </a:defPPr>
          </a:lstStyle>
          <a:p xmlns:a="http://schemas.openxmlformats.org/drawingml/2006/main">
            <a:pPr>
              <a:defRPr sz="3300" b="1">
                <a:solidFill>
                  <a:srgbClr val="192037"/>
                </a:solidFill>
                <a:latin typeface="Helvetica Neue"/>
                <a:ea typeface="Helvetica Neue"/>
                <a:cs typeface="Helvetica Neue"/>
              </a:defRPr>
            </a:pPr>
            <a:r>
              <a:rPr sz="3300" b="1">
                <a:solidFill>
                  <a:srgbClr val="192037"/>
                </a:solidFill>
                <a:latin typeface="Helvetica Neue"/>
                <a:ea typeface="Helvetica Neue"/>
                <a:cs typeface="Helvetica Neue"/>
              </a:rPr>
              <a:t>Copy · upload your social graphics · 1 of 1</a:t>
            </a:r>
          </a:p>
        </p:txBody>
      </p:sp>
      <p:sp>
        <p:nvSpPr>
          <p:cNvPr id="2" name="">
            <a:extLst xmlns:a="http://schemas.openxmlformats.org/drawingml/2006/main">
              <a:ext uri="{FF2B5EF4-FFF2-40B4-BE49-F238E27FC236}">
                <a16:creationId xmlns:a16="http://schemas.microsoft.com/office/drawing/2014/main" id="{671911A8-B631-4256-80AB-E55FEF1206B7}"/>
              </a:ext>
            </a:extLst>
          </p:cNvPr>
          <p:cNvSpPr>
            <a:spLocks xmlns:a="http://schemas.openxmlformats.org/drawingml/2006/main" noGrp="1"/>
          </p:cNvSpPr>
          <p:nvPr/>
        </p:nvSpPr>
        <p:spPr>
          <a:xfrm xmlns:a="http://schemas.openxmlformats.org/drawingml/2006/main">
            <a:off x="666750" y="645795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Ship AI · October 10 workshop</a:t>
            </a:r>
          </a:p>
        </p:txBody>
      </p:sp>
      <p:sp>
        <p:nvSpPr>
          <p:cNvPr id="3" name="">
            <a:extLst xmlns:a="http://schemas.openxmlformats.org/drawingml/2006/main">
              <a:ext uri="{FF2B5EF4-FFF2-40B4-BE49-F238E27FC236}">
                <a16:creationId xmlns:a16="http://schemas.microsoft.com/office/drawing/2014/main" id="{874613D6-7BFC-4188-8DBE-98A4E5C5F6D9}"/>
              </a:ext>
            </a:extLst>
          </p:cNvPr>
          <p:cNvSpPr>
            <a:spLocks xmlns:a="http://schemas.openxmlformats.org/drawingml/2006/main" noGrp="1"/>
          </p:cNvSpPr>
          <p:nvPr/>
        </p:nvSpPr>
        <p:spPr>
          <a:xfrm xmlns:a="http://schemas.openxmlformats.org/drawingml/2006/main">
            <a:off x="11049000" y="6457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5C76"/>
                </a:solidFill>
                <a:latin typeface="Helvetica Neue"/>
                <a:ea typeface="Helvetica Neue"/>
                <a:cs typeface="Helvetica Neue"/>
              </a:defRPr>
            </a:defPPr>
          </a:lstStyle>
          <a:p xmlns:a="http://schemas.openxmlformats.org/drawingml/2006/main">
            <a:pPr>
              <a:defRPr sz="1350" b="0">
                <a:solidFill>
                  <a:srgbClr val="4E5C76"/>
                </a:solidFill>
                <a:latin typeface="Helvetica Neue"/>
                <a:ea typeface="Helvetica Neue"/>
                <a:cs typeface="Helvetica Neue"/>
              </a:defRPr>
            </a:pPr>
            <a:r>
              <a:rPr sz="1350" b="0">
                <a:solidFill>
                  <a:srgbClr val="4E5C76"/>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CF68E707-CC7C-47E5-9E1A-A8FFAB5CFD64}"/>
              </a:ext>
            </a:extLst>
          </p:cNvPr>
          <p:cNvSpPr>
            <a:spLocks xmlns:a="http://schemas.openxmlformats.org/drawingml/2006/main" noGrp="1"/>
          </p:cNvSpPr>
          <p:nvPr/>
        </p:nvSpPr>
        <p:spPr>
          <a:xfrm xmlns:a="http://schemas.openxmlformats.org/drawingml/2006/main">
            <a:off x="666750" y="1438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E5C76"/>
                </a:solidFill>
                <a:latin typeface="Helvetica Neue"/>
                <a:ea typeface="Helvetica Neue"/>
                <a:cs typeface="Helvetica Neue"/>
              </a:defRPr>
            </a:defPPr>
          </a:lstStyle>
          <a:p xmlns:a="http://schemas.openxmlformats.org/drawingml/2006/main">
            <a:pPr>
              <a:defRPr sz="1800" b="0">
                <a:solidFill>
                  <a:srgbClr val="4E5C76"/>
                </a:solidFill>
                <a:latin typeface="Helvetica Neue"/>
                <a:ea typeface="Helvetica Neue"/>
                <a:cs typeface="Helvetica Neue"/>
              </a:defRPr>
            </a:pPr>
            <a:r>
              <a:rPr sz="1800" b="0">
                <a:solidFill>
                  <a:srgbClr val="4E5C76"/>
                </a:solidFill>
                <a:latin typeface="Helvetica Neue"/>
                <a:ea typeface="Helvetica Neue"/>
                <a:cs typeface="Helvetica Neue"/>
              </a:rPr>
              <a:t>Copy each part in order into one message.</a:t>
            </a:r>
          </a:p>
        </p:txBody>
      </p:sp>
      <p:sp>
        <p:nvSpPr>
          <p:cNvPr id="5" name="">
            <a:extLst xmlns:a="http://schemas.openxmlformats.org/drawingml/2006/main">
              <a:ext uri="{FF2B5EF4-FFF2-40B4-BE49-F238E27FC236}">
                <a16:creationId xmlns:a16="http://schemas.microsoft.com/office/drawing/2014/main" id="{CDDCC2EE-7330-483C-8846-E1B554EEBAAE}"/>
              </a:ext>
            </a:extLst>
          </p:cNvPr>
          <p:cNvSpPr>
            <a:spLocks xmlns:a="http://schemas.openxmlformats.org/drawingml/2006/main" noGrp="1"/>
          </p:cNvSpPr>
          <p:nvPr/>
        </p:nvSpPr>
        <p:spPr>
          <a:xfrm xmlns:a="http://schemas.openxmlformats.org/drawingml/2006/main">
            <a:off x="666750" y="2047875"/>
            <a:ext cx="10763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2037"/>
                </a:solidFill>
                <a:latin typeface="Helvetica Neue"/>
                <a:ea typeface="Helvetica Neue"/>
                <a:cs typeface="Helvetica Neue"/>
              </a:defRPr>
            </a:defPPr>
          </a:lstStyle>
          <a:p xmlns:a="http://schemas.openxmlformats.org/drawingml/2006/main">
            <a:pPr>
              <a:defRPr sz="1800" b="0">
                <a:solidFill>
                  <a:srgbClr val="192037"/>
                </a:solidFill>
                <a:latin typeface="Helvetica Neue"/>
                <a:ea typeface="Helvetica Neue"/>
                <a:cs typeface="Helvetica Neue"/>
              </a:defRPr>
            </a:pPr>
            <a:r>
              <a:rPr sz="1800" b="0">
                <a:solidFill>
                  <a:srgbClr val="192037"/>
                </a:solidFill>
                <a:latin typeface="Helvetica Neue"/>
                <a:ea typeface="Helvetica Neue"/>
                <a:cs typeface="Helvetica Neue"/>
              </a:rPr>
              <a:t>Help me set up browser computer use for Claude or Codex using the official setup guide: Claude https://support.claude.com/en/articles/12012173-get-started-with-claude-in-chrome or Codex https://learn.chatgpt.com/docs/chrome-extension. Ask me to locate or attach my social-exports/ graphics and captions; check that you can access them. Ask which social platform and business account to use. Let me sign in myself. In Chrome, upload my chosen social-exports/ files and add the matching captions and alt text where supported. Check the crop and account. Show me the prepared post. Ask for my approval before publishing or scheduling, then verify the result.</a:t>
            </a:r>
          </a:p>
        </p:txBody>
      </p:sp>
    </p:spTree>
    <p:extLst>
      <p:ext uri="{BB962C8B-B14F-4D97-AF65-F5344CB8AC3E}">
        <p14:creationId xmlns:p14="http://schemas.microsoft.com/office/powerpoint/2010/main" val="19660681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2026-10-10T05:38:56.9060000Z</dcterms:created>
  <dcterms:modified xsi:type="dcterms:W3CDTF">2026-10-10T05:38:56.9060000Z</dcterms:modified>
</coreProperties>
</file>